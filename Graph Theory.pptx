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9144000" cy="5143500" type="screen16x9"/>
  <p:notesSz cx="6858000" cy="9144000"/>
  <p:embeddedFontLst>
    <p:embeddedFont>
      <p:font typeface="Roboto" panose="02000000000000000000" pitchFamily="2" charset="0"/>
      <p:regular r:id="rId12"/>
      <p:bold r:id="rId13"/>
      <p:italic r:id="rId14"/>
      <p:boldItalic r:id="rId15"/>
    </p:embeddedFont>
    <p:embeddedFont>
      <p:font typeface="Roboto Slab" pitchFamily="2" charset="0"/>
      <p:regular r:id="rId16"/>
      <p:bold r:id="rId1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08"/>
    <p:restoredTop sz="94666"/>
  </p:normalViewPr>
  <p:slideViewPr>
    <p:cSldViewPr snapToGrid="0">
      <p:cViewPr varScale="1">
        <p:scale>
          <a:sx n="121" d="100"/>
          <a:sy n="121" d="100"/>
        </p:scale>
        <p:origin x="176" y="70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2a2cb7bf33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 name="Google Shape;67;g2a2cb7bf33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2a2cb7bf333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g2a2cb7bf333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g2a2cb7bf333_0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 name="Google Shape;80;g2a2cb7bf333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2a2d139a34e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2a2d139a34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2a2cb7bf333_0_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2a2cb7bf333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2a2cb7bf333_0_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2a2cb7bf333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2a2cb7bf333_0_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2a2cb7bf333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2a2cb7bf333_0_4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a2cb7bf333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a:off x="1524800" y="672606"/>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accent5"/>
            </a:solidFill>
            <a:prstDash val="solid"/>
            <a:miter lim="8000"/>
            <a:headEnd type="none" w="sm" len="sm"/>
            <a:tailEnd type="none" w="sm" len="sm"/>
          </a:ln>
        </p:spPr>
        <p:txBody>
          <a:bodyPr/>
          <a:lstStyle/>
          <a:p>
            <a:endParaRPr lang="en-US"/>
          </a:p>
        </p:txBody>
      </p:sp>
      <p:sp>
        <p:nvSpPr>
          <p:cNvPr id="11" name="Google Shape;11;p2"/>
          <p:cNvSpPr/>
          <p:nvPr/>
        </p:nvSpPr>
        <p:spPr>
          <a:xfrm rot="10800000">
            <a:off x="6537563" y="33429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accent5"/>
            </a:solidFill>
            <a:prstDash val="solid"/>
            <a:miter lim="8000"/>
            <a:headEnd type="none" w="sm" len="sm"/>
            <a:tailEnd type="none" w="sm" len="sm"/>
          </a:ln>
        </p:spPr>
        <p:txBody>
          <a:bodyPr/>
          <a:lstStyle/>
          <a:p>
            <a:endParaRPr lang="en-US"/>
          </a:p>
        </p:txBody>
      </p:sp>
      <p:cxnSp>
        <p:nvCxnSpPr>
          <p:cNvPr id="12" name="Google Shape;12;p2"/>
          <p:cNvCxnSpPr/>
          <p:nvPr/>
        </p:nvCxnSpPr>
        <p:spPr>
          <a:xfrm>
            <a:off x="4359602" y="2817464"/>
            <a:ext cx="424800" cy="0"/>
          </a:xfrm>
          <a:prstGeom prst="straightConnector1">
            <a:avLst/>
          </a:prstGeom>
          <a:noFill/>
          <a:ln w="38100" cap="flat" cmpd="sng">
            <a:solidFill>
              <a:schemeClr val="accent4"/>
            </a:solidFill>
            <a:prstDash val="solid"/>
            <a:round/>
            <a:headEnd type="none" w="sm" len="sm"/>
            <a:tailEnd type="none" w="sm" len="sm"/>
          </a:ln>
        </p:spPr>
      </p:cxnSp>
      <p:sp>
        <p:nvSpPr>
          <p:cNvPr id="13" name="Google Shape;13;p2"/>
          <p:cNvSpPr txBox="1">
            <a:spLocks noGrp="1"/>
          </p:cNvSpPr>
          <p:nvPr>
            <p:ph type="ctrTitle"/>
          </p:nvPr>
        </p:nvSpPr>
        <p:spPr>
          <a:xfrm>
            <a:off x="1680302" y="1188925"/>
            <a:ext cx="5783400" cy="1457400"/>
          </a:xfrm>
          <a:prstGeom prst="rect">
            <a:avLst/>
          </a:prstGeom>
        </p:spPr>
        <p:txBody>
          <a:bodyPr spcFirstLastPara="1" wrap="square" lIns="91425" tIns="91425" rIns="91425" bIns="91425" anchor="b" anchorCtr="0">
            <a:norm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endParaRPr/>
          </a:p>
        </p:txBody>
      </p:sp>
      <p:sp>
        <p:nvSpPr>
          <p:cNvPr id="14" name="Google Shape;14;p2"/>
          <p:cNvSpPr txBox="1">
            <a:spLocks noGrp="1"/>
          </p:cNvSpPr>
          <p:nvPr>
            <p:ph type="subTitle" idx="1"/>
          </p:nvPr>
        </p:nvSpPr>
        <p:spPr>
          <a:xfrm>
            <a:off x="1680302" y="3049450"/>
            <a:ext cx="5783400" cy="9090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1pPr>
            <a:lvl2pPr lvl="1"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2pPr>
            <a:lvl3pPr lvl="2"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3pPr>
            <a:lvl4pPr lvl="3"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4pPr>
            <a:lvl5pPr lvl="4"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5pPr>
            <a:lvl6pPr lvl="5"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6pPr>
            <a:lvl7pPr lvl="6"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7pPr>
            <a:lvl8pPr lvl="7"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8pPr>
            <a:lvl9pPr lvl="8"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9pPr>
          </a:lstStyle>
          <a:p>
            <a:endParaRPr/>
          </a:p>
        </p:txBody>
      </p:sp>
      <p:sp>
        <p:nvSpPr>
          <p:cNvPr id="15" name="Google Shape;15;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6"/>
        <p:cNvGrpSpPr/>
        <p:nvPr/>
      </p:nvGrpSpPr>
      <p:grpSpPr>
        <a:xfrm>
          <a:off x="0" y="0"/>
          <a:ext cx="0" cy="0"/>
          <a:chOff x="0" y="0"/>
          <a:chExt cx="0" cy="0"/>
        </a:xfrm>
      </p:grpSpPr>
      <p:cxnSp>
        <p:nvCxnSpPr>
          <p:cNvPr id="17" name="Google Shape;17;p3"/>
          <p:cNvCxnSpPr/>
          <p:nvPr/>
        </p:nvCxnSpPr>
        <p:spPr>
          <a:xfrm>
            <a:off x="4359602" y="2817464"/>
            <a:ext cx="424800" cy="0"/>
          </a:xfrm>
          <a:prstGeom prst="straightConnector1">
            <a:avLst/>
          </a:prstGeom>
          <a:noFill/>
          <a:ln w="38100" cap="flat" cmpd="sng">
            <a:solidFill>
              <a:schemeClr val="accent4"/>
            </a:solidFill>
            <a:prstDash val="solid"/>
            <a:round/>
            <a:headEnd type="none" w="sm" len="sm"/>
            <a:tailEnd type="none" w="sm" len="sm"/>
          </a:ln>
        </p:spPr>
      </p:cxnSp>
      <p:sp>
        <p:nvSpPr>
          <p:cNvPr id="18" name="Google Shape;18;p3"/>
          <p:cNvSpPr txBox="1">
            <a:spLocks noGrp="1"/>
          </p:cNvSpPr>
          <p:nvPr>
            <p:ph type="title"/>
          </p:nvPr>
        </p:nvSpPr>
        <p:spPr>
          <a:xfrm>
            <a:off x="480750" y="1764950"/>
            <a:ext cx="8222100" cy="907500"/>
          </a:xfrm>
          <a:prstGeom prst="rect">
            <a:avLst/>
          </a:prstGeom>
        </p:spPr>
        <p:txBody>
          <a:bodyPr spcFirstLastPara="1" wrap="square" lIns="91425" tIns="91425" rIns="91425" bIns="91425" anchor="b" anchorCtr="0">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
        <p:nvSpPr>
          <p:cNvPr id="19" name="Google Shape;19;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0"/>
        <p:cNvGrpSpPr/>
        <p:nvPr/>
      </p:nvGrpSpPr>
      <p:grpSpPr>
        <a:xfrm>
          <a:off x="0" y="0"/>
          <a:ext cx="0" cy="0"/>
          <a:chOff x="0" y="0"/>
          <a:chExt cx="0" cy="0"/>
        </a:xfrm>
      </p:grpSpPr>
      <p:cxnSp>
        <p:nvCxnSpPr>
          <p:cNvPr id="21" name="Google Shape;21;p4"/>
          <p:cNvCxnSpPr/>
          <p:nvPr/>
        </p:nvCxnSpPr>
        <p:spPr>
          <a:xfrm>
            <a:off x="492563" y="1260284"/>
            <a:ext cx="424800" cy="0"/>
          </a:xfrm>
          <a:prstGeom prst="straightConnector1">
            <a:avLst/>
          </a:prstGeom>
          <a:noFill/>
          <a:ln w="38100" cap="flat" cmpd="sng">
            <a:solidFill>
              <a:schemeClr val="accent4"/>
            </a:solidFill>
            <a:prstDash val="solid"/>
            <a:round/>
            <a:headEnd type="none" w="sm" len="sm"/>
            <a:tailEnd type="none" w="sm" len="sm"/>
          </a:ln>
        </p:spPr>
      </p:cxnSp>
      <p:sp>
        <p:nvSpPr>
          <p:cNvPr id="22" name="Google Shape;22;p4"/>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3" name="Google Shape;23;p4"/>
          <p:cNvSpPr txBox="1">
            <a:spLocks noGrp="1"/>
          </p:cNvSpPr>
          <p:nvPr>
            <p:ph type="body" idx="1"/>
          </p:nvPr>
        </p:nvSpPr>
        <p:spPr>
          <a:xfrm>
            <a:off x="387900" y="1489824"/>
            <a:ext cx="8368200" cy="30789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4" name="Google Shape;24;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5"/>
        <p:cNvGrpSpPr/>
        <p:nvPr/>
      </p:nvGrpSpPr>
      <p:grpSpPr>
        <a:xfrm>
          <a:off x="0" y="0"/>
          <a:ext cx="0" cy="0"/>
          <a:chOff x="0" y="0"/>
          <a:chExt cx="0" cy="0"/>
        </a:xfrm>
      </p:grpSpPr>
      <p:cxnSp>
        <p:nvCxnSpPr>
          <p:cNvPr id="26" name="Google Shape;26;p5"/>
          <p:cNvCxnSpPr/>
          <p:nvPr/>
        </p:nvCxnSpPr>
        <p:spPr>
          <a:xfrm>
            <a:off x="492563" y="1260284"/>
            <a:ext cx="424800" cy="0"/>
          </a:xfrm>
          <a:prstGeom prst="straightConnector1">
            <a:avLst/>
          </a:prstGeom>
          <a:noFill/>
          <a:ln w="38100" cap="flat" cmpd="sng">
            <a:solidFill>
              <a:schemeClr val="accent4"/>
            </a:solidFill>
            <a:prstDash val="solid"/>
            <a:round/>
            <a:headEnd type="none" w="sm" len="sm"/>
            <a:tailEnd type="none" w="sm" len="sm"/>
          </a:ln>
        </p:spPr>
      </p:cxnSp>
      <p:sp>
        <p:nvSpPr>
          <p:cNvPr id="27" name="Google Shape;27;p5"/>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8" name="Google Shape;28;p5"/>
          <p:cNvSpPr txBox="1">
            <a:spLocks noGrp="1"/>
          </p:cNvSpPr>
          <p:nvPr>
            <p:ph type="body" idx="1"/>
          </p:nvPr>
        </p:nvSpPr>
        <p:spPr>
          <a:xfrm>
            <a:off x="387900" y="1489825"/>
            <a:ext cx="3999900" cy="30789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9" name="Google Shape;29;p5"/>
          <p:cNvSpPr txBox="1">
            <a:spLocks noGrp="1"/>
          </p:cNvSpPr>
          <p:nvPr>
            <p:ph type="body" idx="2"/>
          </p:nvPr>
        </p:nvSpPr>
        <p:spPr>
          <a:xfrm>
            <a:off x="4756200" y="1489825"/>
            <a:ext cx="3999900" cy="30789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0" name="Google Shape;30;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1"/>
        <p:cNvGrpSpPr/>
        <p:nvPr/>
      </p:nvGrpSpPr>
      <p:grpSpPr>
        <a:xfrm>
          <a:off x="0" y="0"/>
          <a:ext cx="0" cy="0"/>
          <a:chOff x="0" y="0"/>
          <a:chExt cx="0" cy="0"/>
        </a:xfrm>
      </p:grpSpPr>
      <p:sp>
        <p:nvSpPr>
          <p:cNvPr id="32" name="Google Shape;32;p6"/>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3" name="Google Shape;33;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4"/>
        <p:cNvGrpSpPr/>
        <p:nvPr/>
      </p:nvGrpSpPr>
      <p:grpSpPr>
        <a:xfrm>
          <a:off x="0" y="0"/>
          <a:ext cx="0" cy="0"/>
          <a:chOff x="0" y="0"/>
          <a:chExt cx="0" cy="0"/>
        </a:xfrm>
      </p:grpSpPr>
      <p:cxnSp>
        <p:nvCxnSpPr>
          <p:cNvPr id="35" name="Google Shape;35;p7"/>
          <p:cNvCxnSpPr/>
          <p:nvPr/>
        </p:nvCxnSpPr>
        <p:spPr>
          <a:xfrm>
            <a:off x="489218" y="1412277"/>
            <a:ext cx="331500" cy="0"/>
          </a:xfrm>
          <a:prstGeom prst="straightConnector1">
            <a:avLst/>
          </a:prstGeom>
          <a:noFill/>
          <a:ln w="38100" cap="flat" cmpd="sng">
            <a:solidFill>
              <a:schemeClr val="accent4"/>
            </a:solidFill>
            <a:prstDash val="solid"/>
            <a:round/>
            <a:headEnd type="none" w="sm" len="sm"/>
            <a:tailEnd type="none" w="sm" len="sm"/>
          </a:ln>
        </p:spPr>
      </p:cxnSp>
      <p:sp>
        <p:nvSpPr>
          <p:cNvPr id="36" name="Google Shape;36;p7"/>
          <p:cNvSpPr txBox="1">
            <a:spLocks noGrp="1"/>
          </p:cNvSpPr>
          <p:nvPr>
            <p:ph type="title"/>
          </p:nvPr>
        </p:nvSpPr>
        <p:spPr>
          <a:xfrm>
            <a:off x="3879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7" name="Google Shape;37;p7"/>
          <p:cNvSpPr txBox="1">
            <a:spLocks noGrp="1"/>
          </p:cNvSpPr>
          <p:nvPr>
            <p:ph type="body" idx="1"/>
          </p:nvPr>
        </p:nvSpPr>
        <p:spPr>
          <a:xfrm>
            <a:off x="387900" y="1594025"/>
            <a:ext cx="2808000" cy="26811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8" name="Google Shape;38;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9"/>
        <p:cNvGrpSpPr/>
        <p:nvPr/>
      </p:nvGrpSpPr>
      <p:grpSpPr>
        <a:xfrm>
          <a:off x="0" y="0"/>
          <a:ext cx="0" cy="0"/>
          <a:chOff x="0" y="0"/>
          <a:chExt cx="0" cy="0"/>
        </a:xfrm>
      </p:grpSpPr>
      <p:sp>
        <p:nvSpPr>
          <p:cNvPr id="40" name="Google Shape;40;p8"/>
          <p:cNvSpPr txBox="1">
            <a:spLocks noGrp="1"/>
          </p:cNvSpPr>
          <p:nvPr>
            <p:ph type="title"/>
          </p:nvPr>
        </p:nvSpPr>
        <p:spPr>
          <a:xfrm>
            <a:off x="490250" y="526350"/>
            <a:ext cx="56187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41" name="Google Shape;41;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2"/>
        <p:cNvGrpSpPr/>
        <p:nvPr/>
      </p:nvGrpSpPr>
      <p:grpSpPr>
        <a:xfrm>
          <a:off x="0" y="0"/>
          <a:ext cx="0" cy="0"/>
          <a:chOff x="0" y="0"/>
          <a:chExt cx="0" cy="0"/>
        </a:xfrm>
      </p:grpSpPr>
      <p:sp>
        <p:nvSpPr>
          <p:cNvPr id="43" name="Google Shape;43;p9"/>
          <p:cNvSpPr/>
          <p:nvPr/>
        </p:nvSpPr>
        <p:spPr>
          <a:xfrm>
            <a:off x="4572000" y="-75"/>
            <a:ext cx="45720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4" name="Google Shape;44;p9"/>
          <p:cNvCxnSpPr/>
          <p:nvPr/>
        </p:nvCxnSpPr>
        <p:spPr>
          <a:xfrm>
            <a:off x="5029675" y="4495503"/>
            <a:ext cx="540900" cy="0"/>
          </a:xfrm>
          <a:prstGeom prst="straightConnector1">
            <a:avLst/>
          </a:prstGeom>
          <a:noFill/>
          <a:ln w="38100" cap="flat" cmpd="sng">
            <a:solidFill>
              <a:schemeClr val="accent5"/>
            </a:solidFill>
            <a:prstDash val="solid"/>
            <a:round/>
            <a:headEnd type="none" w="sm" len="sm"/>
            <a:tailEnd type="none" w="sm" len="sm"/>
          </a:ln>
        </p:spPr>
      </p:cxnSp>
      <p:sp>
        <p:nvSpPr>
          <p:cNvPr id="45" name="Google Shape;45;p9"/>
          <p:cNvSpPr txBox="1">
            <a:spLocks noGrp="1"/>
          </p:cNvSpPr>
          <p:nvPr>
            <p:ph type="title"/>
          </p:nvPr>
        </p:nvSpPr>
        <p:spPr>
          <a:xfrm>
            <a:off x="265500" y="1209075"/>
            <a:ext cx="4045200" cy="1506300"/>
          </a:xfrm>
          <a:prstGeom prst="rect">
            <a:avLst/>
          </a:prstGeom>
        </p:spPr>
        <p:txBody>
          <a:bodyPr spcFirstLastPara="1" wrap="square" lIns="91425" tIns="91425" rIns="91425" bIns="91425" anchor="b" anchorCtr="0">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a:endParaRPr/>
          </a:p>
        </p:txBody>
      </p:sp>
      <p:sp>
        <p:nvSpPr>
          <p:cNvPr id="46" name="Google Shape;46;p9"/>
          <p:cNvSpPr txBox="1">
            <a:spLocks noGrp="1"/>
          </p:cNvSpPr>
          <p:nvPr>
            <p:ph type="subTitle" idx="1"/>
          </p:nvPr>
        </p:nvSpPr>
        <p:spPr>
          <a:xfrm>
            <a:off x="265500" y="2769001"/>
            <a:ext cx="4045200" cy="13455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accent5"/>
              </a:buClr>
              <a:buSzPts val="2100"/>
              <a:buNone/>
              <a:defRPr sz="2100">
                <a:solidFill>
                  <a:schemeClr val="accent5"/>
                </a:solidFill>
              </a:defRPr>
            </a:lvl1pPr>
            <a:lvl2pPr lvl="1" algn="ctr">
              <a:lnSpc>
                <a:spcPct val="100000"/>
              </a:lnSpc>
              <a:spcBef>
                <a:spcPts val="0"/>
              </a:spcBef>
              <a:spcAft>
                <a:spcPts val="0"/>
              </a:spcAft>
              <a:buClr>
                <a:schemeClr val="accent5"/>
              </a:buClr>
              <a:buSzPts val="2100"/>
              <a:buNone/>
              <a:defRPr sz="2100">
                <a:solidFill>
                  <a:schemeClr val="accent5"/>
                </a:solidFill>
              </a:defRPr>
            </a:lvl2pPr>
            <a:lvl3pPr lvl="2" algn="ctr">
              <a:lnSpc>
                <a:spcPct val="100000"/>
              </a:lnSpc>
              <a:spcBef>
                <a:spcPts val="0"/>
              </a:spcBef>
              <a:spcAft>
                <a:spcPts val="0"/>
              </a:spcAft>
              <a:buClr>
                <a:schemeClr val="accent5"/>
              </a:buClr>
              <a:buSzPts val="2100"/>
              <a:buNone/>
              <a:defRPr sz="2100">
                <a:solidFill>
                  <a:schemeClr val="accent5"/>
                </a:solidFill>
              </a:defRPr>
            </a:lvl3pPr>
            <a:lvl4pPr lvl="3" algn="ctr">
              <a:lnSpc>
                <a:spcPct val="100000"/>
              </a:lnSpc>
              <a:spcBef>
                <a:spcPts val="0"/>
              </a:spcBef>
              <a:spcAft>
                <a:spcPts val="0"/>
              </a:spcAft>
              <a:buClr>
                <a:schemeClr val="accent5"/>
              </a:buClr>
              <a:buSzPts val="2100"/>
              <a:buNone/>
              <a:defRPr sz="2100">
                <a:solidFill>
                  <a:schemeClr val="accent5"/>
                </a:solidFill>
              </a:defRPr>
            </a:lvl4pPr>
            <a:lvl5pPr lvl="4" algn="ctr">
              <a:lnSpc>
                <a:spcPct val="100000"/>
              </a:lnSpc>
              <a:spcBef>
                <a:spcPts val="0"/>
              </a:spcBef>
              <a:spcAft>
                <a:spcPts val="0"/>
              </a:spcAft>
              <a:buClr>
                <a:schemeClr val="accent5"/>
              </a:buClr>
              <a:buSzPts val="2100"/>
              <a:buNone/>
              <a:defRPr sz="2100">
                <a:solidFill>
                  <a:schemeClr val="accent5"/>
                </a:solidFill>
              </a:defRPr>
            </a:lvl5pPr>
            <a:lvl6pPr lvl="5" algn="ctr">
              <a:lnSpc>
                <a:spcPct val="100000"/>
              </a:lnSpc>
              <a:spcBef>
                <a:spcPts val="0"/>
              </a:spcBef>
              <a:spcAft>
                <a:spcPts val="0"/>
              </a:spcAft>
              <a:buClr>
                <a:schemeClr val="accent5"/>
              </a:buClr>
              <a:buSzPts val="2100"/>
              <a:buNone/>
              <a:defRPr sz="2100">
                <a:solidFill>
                  <a:schemeClr val="accent5"/>
                </a:solidFill>
              </a:defRPr>
            </a:lvl6pPr>
            <a:lvl7pPr lvl="6" algn="ctr">
              <a:lnSpc>
                <a:spcPct val="100000"/>
              </a:lnSpc>
              <a:spcBef>
                <a:spcPts val="0"/>
              </a:spcBef>
              <a:spcAft>
                <a:spcPts val="0"/>
              </a:spcAft>
              <a:buClr>
                <a:schemeClr val="accent5"/>
              </a:buClr>
              <a:buSzPts val="2100"/>
              <a:buNone/>
              <a:defRPr sz="2100">
                <a:solidFill>
                  <a:schemeClr val="accent5"/>
                </a:solidFill>
              </a:defRPr>
            </a:lvl7pPr>
            <a:lvl8pPr lvl="7" algn="ctr">
              <a:lnSpc>
                <a:spcPct val="100000"/>
              </a:lnSpc>
              <a:spcBef>
                <a:spcPts val="0"/>
              </a:spcBef>
              <a:spcAft>
                <a:spcPts val="0"/>
              </a:spcAft>
              <a:buClr>
                <a:schemeClr val="accent5"/>
              </a:buClr>
              <a:buSzPts val="2100"/>
              <a:buNone/>
              <a:defRPr sz="2100">
                <a:solidFill>
                  <a:schemeClr val="accent5"/>
                </a:solidFill>
              </a:defRPr>
            </a:lvl8pPr>
            <a:lvl9pPr lvl="8" algn="ctr">
              <a:lnSpc>
                <a:spcPct val="100000"/>
              </a:lnSpc>
              <a:spcBef>
                <a:spcPts val="0"/>
              </a:spcBef>
              <a:spcAft>
                <a:spcPts val="0"/>
              </a:spcAft>
              <a:buClr>
                <a:schemeClr val="accent5"/>
              </a:buClr>
              <a:buSzPts val="2100"/>
              <a:buNone/>
              <a:defRPr sz="2100">
                <a:solidFill>
                  <a:schemeClr val="accent5"/>
                </a:solidFill>
              </a:defRPr>
            </a:lvl9pPr>
          </a:lstStyle>
          <a:p>
            <a:endParaRPr/>
          </a:p>
        </p:txBody>
      </p:sp>
      <p:sp>
        <p:nvSpPr>
          <p:cNvPr id="47" name="Google Shape;47;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8" name="Google Shape;48;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9"/>
        <p:cNvGrpSpPr/>
        <p:nvPr/>
      </p:nvGrpSpPr>
      <p:grpSpPr>
        <a:xfrm>
          <a:off x="0" y="0"/>
          <a:ext cx="0" cy="0"/>
          <a:chOff x="0" y="0"/>
          <a:chExt cx="0" cy="0"/>
        </a:xfrm>
      </p:grpSpPr>
      <p:sp>
        <p:nvSpPr>
          <p:cNvPr id="50" name="Google Shape;50;p10"/>
          <p:cNvSpPr txBox="1">
            <a:spLocks noGrp="1"/>
          </p:cNvSpPr>
          <p:nvPr>
            <p:ph type="body" idx="1"/>
          </p:nvPr>
        </p:nvSpPr>
        <p:spPr>
          <a:xfrm>
            <a:off x="319500" y="4233725"/>
            <a:ext cx="5998800" cy="598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Font typeface="Roboto Slab"/>
              <a:buNone/>
              <a:defRPr>
                <a:latin typeface="Roboto Slab"/>
                <a:ea typeface="Roboto Slab"/>
                <a:cs typeface="Roboto Slab"/>
                <a:sym typeface="Roboto Slab"/>
              </a:defRPr>
            </a:lvl1pPr>
          </a:lstStyle>
          <a:p>
            <a:endParaRPr/>
          </a:p>
        </p:txBody>
      </p:sp>
      <p:sp>
        <p:nvSpPr>
          <p:cNvPr id="51" name="Google Shape;51;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2"/>
        <p:cNvGrpSpPr/>
        <p:nvPr/>
      </p:nvGrpSpPr>
      <p:grpSpPr>
        <a:xfrm>
          <a:off x="0" y="0"/>
          <a:ext cx="0" cy="0"/>
          <a:chOff x="0" y="0"/>
          <a:chExt cx="0" cy="0"/>
        </a:xfrm>
      </p:grpSpPr>
      <p:sp>
        <p:nvSpPr>
          <p:cNvPr id="53" name="Google Shape;53;p11"/>
          <p:cNvSpPr/>
          <p:nvPr/>
        </p:nvSpPr>
        <p:spPr>
          <a:xfrm>
            <a:off x="150" y="5076825"/>
            <a:ext cx="9143700" cy="666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11"/>
          <p:cNvSpPr txBox="1">
            <a:spLocks noGrp="1"/>
          </p:cNvSpPr>
          <p:nvPr>
            <p:ph type="title" hasCustomPrompt="1"/>
          </p:nvPr>
        </p:nvSpPr>
        <p:spPr>
          <a:xfrm>
            <a:off x="387900" y="1152450"/>
            <a:ext cx="8368200" cy="15384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accent5"/>
              </a:buClr>
              <a:buSzPts val="13000"/>
              <a:buNone/>
              <a:defRPr sz="13000">
                <a:solidFill>
                  <a:schemeClr val="accent5"/>
                </a:solidFill>
              </a:defRPr>
            </a:lvl1pPr>
            <a:lvl2pPr lvl="1" algn="ctr">
              <a:spcBef>
                <a:spcPts val="0"/>
              </a:spcBef>
              <a:spcAft>
                <a:spcPts val="0"/>
              </a:spcAft>
              <a:buClr>
                <a:schemeClr val="accent5"/>
              </a:buClr>
              <a:buSzPts val="13000"/>
              <a:buNone/>
              <a:defRPr sz="13000">
                <a:solidFill>
                  <a:schemeClr val="accent5"/>
                </a:solidFill>
              </a:defRPr>
            </a:lvl2pPr>
            <a:lvl3pPr lvl="2" algn="ctr">
              <a:spcBef>
                <a:spcPts val="0"/>
              </a:spcBef>
              <a:spcAft>
                <a:spcPts val="0"/>
              </a:spcAft>
              <a:buClr>
                <a:schemeClr val="accent5"/>
              </a:buClr>
              <a:buSzPts val="13000"/>
              <a:buNone/>
              <a:defRPr sz="13000">
                <a:solidFill>
                  <a:schemeClr val="accent5"/>
                </a:solidFill>
              </a:defRPr>
            </a:lvl3pPr>
            <a:lvl4pPr lvl="3" algn="ctr">
              <a:spcBef>
                <a:spcPts val="0"/>
              </a:spcBef>
              <a:spcAft>
                <a:spcPts val="0"/>
              </a:spcAft>
              <a:buClr>
                <a:schemeClr val="accent5"/>
              </a:buClr>
              <a:buSzPts val="13000"/>
              <a:buNone/>
              <a:defRPr sz="13000">
                <a:solidFill>
                  <a:schemeClr val="accent5"/>
                </a:solidFill>
              </a:defRPr>
            </a:lvl4pPr>
            <a:lvl5pPr lvl="4" algn="ctr">
              <a:spcBef>
                <a:spcPts val="0"/>
              </a:spcBef>
              <a:spcAft>
                <a:spcPts val="0"/>
              </a:spcAft>
              <a:buClr>
                <a:schemeClr val="accent5"/>
              </a:buClr>
              <a:buSzPts val="13000"/>
              <a:buNone/>
              <a:defRPr sz="13000">
                <a:solidFill>
                  <a:schemeClr val="accent5"/>
                </a:solidFill>
              </a:defRPr>
            </a:lvl5pPr>
            <a:lvl6pPr lvl="5" algn="ctr">
              <a:spcBef>
                <a:spcPts val="0"/>
              </a:spcBef>
              <a:spcAft>
                <a:spcPts val="0"/>
              </a:spcAft>
              <a:buClr>
                <a:schemeClr val="accent5"/>
              </a:buClr>
              <a:buSzPts val="13000"/>
              <a:buNone/>
              <a:defRPr sz="13000">
                <a:solidFill>
                  <a:schemeClr val="accent5"/>
                </a:solidFill>
              </a:defRPr>
            </a:lvl6pPr>
            <a:lvl7pPr lvl="6" algn="ctr">
              <a:spcBef>
                <a:spcPts val="0"/>
              </a:spcBef>
              <a:spcAft>
                <a:spcPts val="0"/>
              </a:spcAft>
              <a:buClr>
                <a:schemeClr val="accent5"/>
              </a:buClr>
              <a:buSzPts val="13000"/>
              <a:buNone/>
              <a:defRPr sz="13000">
                <a:solidFill>
                  <a:schemeClr val="accent5"/>
                </a:solidFill>
              </a:defRPr>
            </a:lvl7pPr>
            <a:lvl8pPr lvl="7" algn="ctr">
              <a:spcBef>
                <a:spcPts val="0"/>
              </a:spcBef>
              <a:spcAft>
                <a:spcPts val="0"/>
              </a:spcAft>
              <a:buClr>
                <a:schemeClr val="accent5"/>
              </a:buClr>
              <a:buSzPts val="13000"/>
              <a:buNone/>
              <a:defRPr sz="13000">
                <a:solidFill>
                  <a:schemeClr val="accent5"/>
                </a:solidFill>
              </a:defRPr>
            </a:lvl8pPr>
            <a:lvl9pPr lvl="8" algn="ctr">
              <a:spcBef>
                <a:spcPts val="0"/>
              </a:spcBef>
              <a:spcAft>
                <a:spcPts val="0"/>
              </a:spcAft>
              <a:buClr>
                <a:schemeClr val="accent5"/>
              </a:buClr>
              <a:buSzPts val="13000"/>
              <a:buNone/>
              <a:defRPr sz="13000">
                <a:solidFill>
                  <a:schemeClr val="accent5"/>
                </a:solidFill>
              </a:defRPr>
            </a:lvl9pPr>
          </a:lstStyle>
          <a:p>
            <a:r>
              <a:t>xx%</a:t>
            </a:r>
          </a:p>
        </p:txBody>
      </p:sp>
      <p:sp>
        <p:nvSpPr>
          <p:cNvPr id="55" name="Google Shape;55;p11"/>
          <p:cNvSpPr txBox="1">
            <a:spLocks noGrp="1"/>
          </p:cNvSpPr>
          <p:nvPr>
            <p:ph type="body" idx="1"/>
          </p:nvPr>
        </p:nvSpPr>
        <p:spPr>
          <a:xfrm>
            <a:off x="387900" y="2919450"/>
            <a:ext cx="8368200" cy="10716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56" name="Google Shape;56;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7"/>
        <p:cNvGrpSpPr/>
        <p:nvPr/>
      </p:nvGrpSpPr>
      <p:grpSpPr>
        <a:xfrm>
          <a:off x="0" y="0"/>
          <a:ext cx="0" cy="0"/>
          <a:chOff x="0" y="0"/>
          <a:chExt cx="0" cy="0"/>
        </a:xfrm>
      </p:grpSpPr>
      <p:sp>
        <p:nvSpPr>
          <p:cNvPr id="58" name="Google Shape;58;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rina">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87900" y="458025"/>
            <a:ext cx="8368200" cy="686100"/>
          </a:xfrm>
          <a:prstGeom prst="rect">
            <a:avLst/>
          </a:prstGeom>
          <a:noFill/>
          <a:ln>
            <a:noFill/>
          </a:ln>
        </p:spPr>
        <p:txBody>
          <a:bodyPr spcFirstLastPara="1" wrap="square" lIns="91425" tIns="91425" rIns="91425" bIns="91425" anchor="b" anchorCtr="0">
            <a:normAutofit/>
          </a:bodyPr>
          <a:lstStyle>
            <a:lvl1pPr lvl="0">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1pPr>
            <a:lvl2pPr lvl="1">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2pPr>
            <a:lvl3pPr lvl="2">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3pPr>
            <a:lvl4pPr lvl="3">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4pPr>
            <a:lvl5pPr lvl="4">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5pPr>
            <a:lvl6pPr lvl="5">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6pPr>
            <a:lvl7pPr lvl="6">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7pPr>
            <a:lvl8pPr lvl="7">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8pPr>
            <a:lvl9pPr lvl="8">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9pPr>
          </a:lstStyle>
          <a:p>
            <a:endParaRPr/>
          </a:p>
        </p:txBody>
      </p:sp>
      <p:sp>
        <p:nvSpPr>
          <p:cNvPr id="7" name="Google Shape;7;p1"/>
          <p:cNvSpPr txBox="1">
            <a:spLocks noGrp="1"/>
          </p:cNvSpPr>
          <p:nvPr>
            <p:ph type="body" idx="1"/>
          </p:nvPr>
        </p:nvSpPr>
        <p:spPr>
          <a:xfrm>
            <a:off x="387900" y="1489824"/>
            <a:ext cx="8368200" cy="30789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marL="914400" lvl="1"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2pPr>
            <a:lvl3pPr marL="1371600" lvl="2"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3pPr>
            <a:lvl4pPr marL="1828800" lvl="3"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4pPr>
            <a:lvl5pPr marL="2286000" lvl="4"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5pPr>
            <a:lvl6pPr marL="2743200" lvl="5"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6pPr>
            <a:lvl7pPr marL="3200400" lvl="6"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7pPr>
            <a:lvl8pPr marL="3657600" lvl="7"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8pPr>
            <a:lvl9pPr marL="4114800" lvl="8"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1"/>
                </a:solidFill>
                <a:latin typeface="Roboto"/>
                <a:ea typeface="Roboto"/>
                <a:cs typeface="Roboto"/>
                <a:sym typeface="Roboto"/>
              </a:defRPr>
            </a:lvl1pPr>
            <a:lvl2pPr lvl="1" algn="r">
              <a:buNone/>
              <a:defRPr sz="1000">
                <a:solidFill>
                  <a:schemeClr val="dk1"/>
                </a:solidFill>
                <a:latin typeface="Roboto"/>
                <a:ea typeface="Roboto"/>
                <a:cs typeface="Roboto"/>
                <a:sym typeface="Roboto"/>
              </a:defRPr>
            </a:lvl2pPr>
            <a:lvl3pPr lvl="2" algn="r">
              <a:buNone/>
              <a:defRPr sz="1000">
                <a:solidFill>
                  <a:schemeClr val="dk1"/>
                </a:solidFill>
                <a:latin typeface="Roboto"/>
                <a:ea typeface="Roboto"/>
                <a:cs typeface="Roboto"/>
                <a:sym typeface="Roboto"/>
              </a:defRPr>
            </a:lvl3pPr>
            <a:lvl4pPr lvl="3" algn="r">
              <a:buNone/>
              <a:defRPr sz="1000">
                <a:solidFill>
                  <a:schemeClr val="dk1"/>
                </a:solidFill>
                <a:latin typeface="Roboto"/>
                <a:ea typeface="Roboto"/>
                <a:cs typeface="Roboto"/>
                <a:sym typeface="Roboto"/>
              </a:defRPr>
            </a:lvl4pPr>
            <a:lvl5pPr lvl="4" algn="r">
              <a:buNone/>
              <a:defRPr sz="1000">
                <a:solidFill>
                  <a:schemeClr val="dk1"/>
                </a:solidFill>
                <a:latin typeface="Roboto"/>
                <a:ea typeface="Roboto"/>
                <a:cs typeface="Roboto"/>
                <a:sym typeface="Roboto"/>
              </a:defRPr>
            </a:lvl5pPr>
            <a:lvl6pPr lvl="5" algn="r">
              <a:buNone/>
              <a:defRPr sz="1000">
                <a:solidFill>
                  <a:schemeClr val="dk1"/>
                </a:solidFill>
                <a:latin typeface="Roboto"/>
                <a:ea typeface="Roboto"/>
                <a:cs typeface="Roboto"/>
                <a:sym typeface="Roboto"/>
              </a:defRPr>
            </a:lvl6pPr>
            <a:lvl7pPr lvl="6" algn="r">
              <a:buNone/>
              <a:defRPr sz="1000">
                <a:solidFill>
                  <a:schemeClr val="dk1"/>
                </a:solidFill>
                <a:latin typeface="Roboto"/>
                <a:ea typeface="Roboto"/>
                <a:cs typeface="Roboto"/>
                <a:sym typeface="Roboto"/>
              </a:defRPr>
            </a:lvl7pPr>
            <a:lvl8pPr lvl="7" algn="r">
              <a:buNone/>
              <a:defRPr sz="1000">
                <a:solidFill>
                  <a:schemeClr val="dk1"/>
                </a:solidFill>
                <a:latin typeface="Roboto"/>
                <a:ea typeface="Roboto"/>
                <a:cs typeface="Roboto"/>
                <a:sym typeface="Roboto"/>
              </a:defRPr>
            </a:lvl8pPr>
            <a:lvl9pPr lvl="8" algn="r">
              <a:buNone/>
              <a:defRPr sz="1000">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3.jp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3"/>
          <p:cNvSpPr txBox="1">
            <a:spLocks noGrp="1"/>
          </p:cNvSpPr>
          <p:nvPr>
            <p:ph type="ctrTitle"/>
          </p:nvPr>
        </p:nvSpPr>
        <p:spPr>
          <a:xfrm>
            <a:off x="1680302" y="1188925"/>
            <a:ext cx="5783400" cy="1457400"/>
          </a:xfrm>
          <a:prstGeom prst="rect">
            <a:avLst/>
          </a:prstGeom>
        </p:spPr>
        <p:txBody>
          <a:bodyPr spcFirstLastPara="1" wrap="square" lIns="91425" tIns="91425" rIns="91425" bIns="91425" anchor="b" anchorCtr="0">
            <a:normAutofit fontScale="90000"/>
          </a:bodyPr>
          <a:lstStyle/>
          <a:p>
            <a:pPr marL="0" lvl="0" indent="0" algn="ctr" rtl="0">
              <a:spcBef>
                <a:spcPts val="0"/>
              </a:spcBef>
              <a:spcAft>
                <a:spcPts val="0"/>
              </a:spcAft>
              <a:buNone/>
            </a:pPr>
            <a:r>
              <a:rPr lang="en"/>
              <a:t>Graph Theory: Applications and Insights</a:t>
            </a:r>
            <a:endParaRPr/>
          </a:p>
        </p:txBody>
      </p:sp>
      <p:sp>
        <p:nvSpPr>
          <p:cNvPr id="64" name="Google Shape;64;p13"/>
          <p:cNvSpPr txBox="1">
            <a:spLocks noGrp="1"/>
          </p:cNvSpPr>
          <p:nvPr>
            <p:ph type="subTitle" idx="1"/>
          </p:nvPr>
        </p:nvSpPr>
        <p:spPr>
          <a:xfrm>
            <a:off x="1680302" y="3049450"/>
            <a:ext cx="5783400" cy="9090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dirty="0"/>
              <a:t>Moulik Jain</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14"/>
          <p:cNvSpPr txBox="1">
            <a:spLocks noGrp="1"/>
          </p:cNvSpPr>
          <p:nvPr>
            <p:ph type="title"/>
          </p:nvPr>
        </p:nvSpPr>
        <p:spPr>
          <a:xfrm>
            <a:off x="387900" y="458025"/>
            <a:ext cx="8368200" cy="686100"/>
          </a:xfrm>
        </p:spPr>
        <p:txBody>
          <a:bodyPr spcFirstLastPara="1" wrap="square" lIns="91425" tIns="91425" rIns="91425" bIns="91425" anchor="ctr" anchorCtr="0">
            <a:normAutofit/>
          </a:bodyPr>
          <a:lstStyle/>
          <a:p>
            <a:pPr marL="0" lvl="0" indent="0" rtl="0">
              <a:lnSpc>
                <a:spcPct val="90000"/>
              </a:lnSpc>
              <a:spcBef>
                <a:spcPts val="0"/>
              </a:spcBef>
              <a:spcAft>
                <a:spcPts val="0"/>
              </a:spcAft>
              <a:buNone/>
            </a:pPr>
            <a:r>
              <a:rPr lang="en-US" sz="3400"/>
              <a:t>What is it?</a:t>
            </a:r>
          </a:p>
        </p:txBody>
      </p:sp>
      <p:sp>
        <p:nvSpPr>
          <p:cNvPr id="70" name="Google Shape;70;p14"/>
          <p:cNvSpPr txBox="1">
            <a:spLocks noGrp="1"/>
          </p:cNvSpPr>
          <p:nvPr>
            <p:ph type="body" idx="4294967295"/>
          </p:nvPr>
        </p:nvSpPr>
        <p:spPr>
          <a:xfrm>
            <a:off x="387900" y="1334625"/>
            <a:ext cx="3993600" cy="3264408"/>
          </a:xfrm>
        </p:spPr>
        <p:txBody>
          <a:bodyPr spcFirstLastPara="1" lIns="91425" tIns="91425" rIns="91425" bIns="91425" anchor="t" anchorCtr="0">
            <a:normAutofit/>
          </a:bodyPr>
          <a:lstStyle/>
          <a:p>
            <a:pPr marL="425450" indent="-285750">
              <a:lnSpc>
                <a:spcPct val="105000"/>
              </a:lnSpc>
              <a:spcAft>
                <a:spcPts val="600"/>
              </a:spcAft>
              <a:buClr>
                <a:srgbClr val="000000"/>
              </a:buClr>
              <a:buSzPts val="1400"/>
              <a:buFont typeface="Arial"/>
            </a:pPr>
            <a:r>
              <a:rPr lang="en-US" sz="1700" b="0" i="0" u="none" strike="noStrike" cap="none"/>
              <a:t>Study of graphs as mathematical objects to solve real-world problems</a:t>
            </a:r>
          </a:p>
          <a:p>
            <a:pPr marL="425450" indent="-285750">
              <a:lnSpc>
                <a:spcPct val="105000"/>
              </a:lnSpc>
              <a:spcAft>
                <a:spcPts val="600"/>
              </a:spcAft>
              <a:buClr>
                <a:srgbClr val="000000"/>
              </a:buClr>
              <a:buSzPts val="1400"/>
              <a:buFont typeface="Arial"/>
            </a:pPr>
            <a:r>
              <a:rPr lang="en-US" sz="1700" b="0" i="0" u="none" strike="noStrike" cap="none"/>
              <a:t>Utilizes vertices and connections to simplify complex problems into organized structures</a:t>
            </a:r>
          </a:p>
          <a:p>
            <a:pPr marL="425450" indent="-285750">
              <a:lnSpc>
                <a:spcPct val="105000"/>
              </a:lnSpc>
              <a:spcAft>
                <a:spcPts val="600"/>
              </a:spcAft>
              <a:buClr>
                <a:srgbClr val="000000"/>
              </a:buClr>
              <a:buSzPts val="1400"/>
              <a:buFont typeface="Arial"/>
            </a:pPr>
            <a:r>
              <a:rPr lang="en-US" sz="1700" b="0" i="0" u="none" strike="noStrike" cap="none"/>
              <a:t>Its versatile nature in solving complex real-world problems by providing a structured framework through graphs and algorithms.</a:t>
            </a:r>
          </a:p>
        </p:txBody>
      </p:sp>
      <p:pic>
        <p:nvPicPr>
          <p:cNvPr id="71" name="Google Shape;71;p14"/>
          <p:cNvPicPr preferRelativeResize="0"/>
          <p:nvPr/>
        </p:nvPicPr>
        <p:blipFill rotWithShape="1">
          <a:blip r:embed="rId3"/>
          <a:srcRect l="13305" r="17878" b="-3"/>
          <a:stretch>
            <a:fillRect/>
          </a:stretch>
        </p:blipFill>
        <p:spPr>
          <a:xfrm>
            <a:off x="4762500" y="1334625"/>
            <a:ext cx="3993600" cy="3264408"/>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15"/>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Fundamental of Graph Theory</a:t>
            </a:r>
            <a:endParaRPr/>
          </a:p>
        </p:txBody>
      </p:sp>
      <p:sp>
        <p:nvSpPr>
          <p:cNvPr id="77" name="Google Shape;77;p15"/>
          <p:cNvSpPr txBox="1">
            <a:spLocks noGrp="1"/>
          </p:cNvSpPr>
          <p:nvPr>
            <p:ph type="body" idx="1"/>
          </p:nvPr>
        </p:nvSpPr>
        <p:spPr>
          <a:xfrm>
            <a:off x="387900" y="1489824"/>
            <a:ext cx="8368200" cy="30789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Vertices and Edges: </a:t>
            </a:r>
            <a:endParaRPr/>
          </a:p>
          <a:p>
            <a:pPr marL="914400" lvl="1" indent="-317500" algn="l" rtl="0">
              <a:spcBef>
                <a:spcPts val="0"/>
              </a:spcBef>
              <a:spcAft>
                <a:spcPts val="0"/>
              </a:spcAft>
              <a:buSzPts val="1400"/>
              <a:buChar char="○"/>
            </a:pPr>
            <a:r>
              <a:rPr lang="en"/>
              <a:t>Graphs consist of vertices (nodes) and edges. </a:t>
            </a:r>
            <a:endParaRPr/>
          </a:p>
          <a:p>
            <a:pPr marL="914400" lvl="1" indent="-317500" algn="l" rtl="0">
              <a:spcBef>
                <a:spcPts val="0"/>
              </a:spcBef>
              <a:spcAft>
                <a:spcPts val="0"/>
              </a:spcAft>
              <a:buSzPts val="1400"/>
              <a:buChar char="○"/>
            </a:pPr>
            <a:r>
              <a:rPr lang="en"/>
              <a:t>Vertices represent entities, while edges denote the relationships or connections between them.</a:t>
            </a:r>
            <a:endParaRPr/>
          </a:p>
          <a:p>
            <a:pPr marL="457200" lvl="0" indent="-342900" algn="l" rtl="0">
              <a:spcBef>
                <a:spcPts val="0"/>
              </a:spcBef>
              <a:spcAft>
                <a:spcPts val="0"/>
              </a:spcAft>
              <a:buSzPts val="1800"/>
              <a:buChar char="●"/>
            </a:pPr>
            <a:r>
              <a:rPr lang="en"/>
              <a:t>Directed or Undirected: </a:t>
            </a:r>
            <a:endParaRPr/>
          </a:p>
          <a:p>
            <a:pPr marL="914400" lvl="1" indent="-317500" algn="l" rtl="0">
              <a:spcBef>
                <a:spcPts val="0"/>
              </a:spcBef>
              <a:spcAft>
                <a:spcPts val="0"/>
              </a:spcAft>
              <a:buSzPts val="1400"/>
              <a:buChar char="○"/>
            </a:pPr>
            <a:r>
              <a:rPr lang="en"/>
              <a:t>Graphs can be either directed (edges have a specific direction) or undirected (edges have no direction). </a:t>
            </a:r>
            <a:endParaRPr/>
          </a:p>
          <a:p>
            <a:pPr marL="914400" lvl="1" indent="-317500" algn="l" rtl="0">
              <a:spcBef>
                <a:spcPts val="0"/>
              </a:spcBef>
              <a:spcAft>
                <a:spcPts val="0"/>
              </a:spcAft>
              <a:buSzPts val="1400"/>
              <a:buChar char="○"/>
            </a:pPr>
            <a:r>
              <a:rPr lang="en"/>
              <a:t>The relationships between vertices are defined by the presence or absence of edges, and the nature of these edges determines the type of graph.</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Applications of Graph Theory</a:t>
            </a:r>
            <a:endParaRPr/>
          </a:p>
        </p:txBody>
      </p:sp>
      <p:sp>
        <p:nvSpPr>
          <p:cNvPr id="83" name="Google Shape;83;p16"/>
          <p:cNvSpPr txBox="1">
            <a:spLocks noGrp="1"/>
          </p:cNvSpPr>
          <p:nvPr>
            <p:ph type="body" idx="1"/>
          </p:nvPr>
        </p:nvSpPr>
        <p:spPr>
          <a:xfrm>
            <a:off x="387900" y="1489824"/>
            <a:ext cx="8368200" cy="30789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Clr>
                <a:schemeClr val="dk1"/>
              </a:buClr>
              <a:buSzPts val="1800"/>
              <a:buChar char="●"/>
            </a:pPr>
            <a:r>
              <a:rPr lang="en">
                <a:solidFill>
                  <a:schemeClr val="dk1"/>
                </a:solidFill>
              </a:rPr>
              <a:t>Google Maps</a:t>
            </a:r>
            <a:endParaRPr>
              <a:solidFill>
                <a:schemeClr val="dk1"/>
              </a:solidFill>
            </a:endParaRPr>
          </a:p>
          <a:p>
            <a:pPr marL="914400" lvl="1" indent="-317500" algn="l" rtl="0">
              <a:spcBef>
                <a:spcPts val="0"/>
              </a:spcBef>
              <a:spcAft>
                <a:spcPts val="0"/>
              </a:spcAft>
              <a:buClr>
                <a:schemeClr val="dk1"/>
              </a:buClr>
              <a:buSzPts val="1400"/>
              <a:buChar char="○"/>
            </a:pPr>
            <a:r>
              <a:rPr lang="en">
                <a:solidFill>
                  <a:schemeClr val="dk1"/>
                </a:solidFill>
              </a:rPr>
              <a:t>Utilizing graph theory for optimal route planning</a:t>
            </a:r>
            <a:endParaRPr>
              <a:solidFill>
                <a:schemeClr val="dk1"/>
              </a:solidFill>
            </a:endParaRPr>
          </a:p>
          <a:p>
            <a:pPr marL="914400" lvl="1" indent="-317500" algn="l" rtl="0">
              <a:spcBef>
                <a:spcPts val="0"/>
              </a:spcBef>
              <a:spcAft>
                <a:spcPts val="0"/>
              </a:spcAft>
              <a:buClr>
                <a:schemeClr val="dk1"/>
              </a:buClr>
              <a:buSzPts val="1400"/>
              <a:buChar char="○"/>
            </a:pPr>
            <a:r>
              <a:rPr lang="en">
                <a:solidFill>
                  <a:schemeClr val="dk1"/>
                </a:solidFill>
              </a:rPr>
              <a:t>Consideration of factors like weather conditions and traffic</a:t>
            </a:r>
            <a:endParaRPr>
              <a:solidFill>
                <a:schemeClr val="dk1"/>
              </a:solidFill>
            </a:endParaRPr>
          </a:p>
          <a:p>
            <a:pPr marL="457200" lvl="0" indent="-342900" algn="l" rtl="0">
              <a:spcBef>
                <a:spcPts val="0"/>
              </a:spcBef>
              <a:spcAft>
                <a:spcPts val="0"/>
              </a:spcAft>
              <a:buClr>
                <a:schemeClr val="dk1"/>
              </a:buClr>
              <a:buSzPts val="1800"/>
              <a:buChar char="●"/>
            </a:pPr>
            <a:r>
              <a:rPr lang="en">
                <a:solidFill>
                  <a:schemeClr val="dk1"/>
                </a:solidFill>
              </a:rPr>
              <a:t>Airline Scheduling</a:t>
            </a:r>
            <a:endParaRPr>
              <a:solidFill>
                <a:schemeClr val="dk1"/>
              </a:solidFill>
            </a:endParaRPr>
          </a:p>
          <a:p>
            <a:pPr marL="914400" lvl="1" indent="-317500" algn="l" rtl="0">
              <a:spcBef>
                <a:spcPts val="0"/>
              </a:spcBef>
              <a:spcAft>
                <a:spcPts val="0"/>
              </a:spcAft>
              <a:buClr>
                <a:schemeClr val="dk1"/>
              </a:buClr>
              <a:buSzPts val="1400"/>
              <a:buChar char="○"/>
            </a:pPr>
            <a:r>
              <a:rPr lang="en">
                <a:solidFill>
                  <a:schemeClr val="dk1"/>
                </a:solidFill>
              </a:rPr>
              <a:t>Application of graphs in optimizing flight schedules</a:t>
            </a:r>
            <a:endParaRPr>
              <a:solidFill>
                <a:schemeClr val="dk1"/>
              </a:solidFill>
            </a:endParaRPr>
          </a:p>
          <a:p>
            <a:pPr marL="914400" lvl="1" indent="-317500" algn="l" rtl="0">
              <a:spcBef>
                <a:spcPts val="0"/>
              </a:spcBef>
              <a:spcAft>
                <a:spcPts val="0"/>
              </a:spcAft>
              <a:buClr>
                <a:schemeClr val="dk1"/>
              </a:buClr>
              <a:buSzPts val="1400"/>
              <a:buChar char="○"/>
            </a:pPr>
            <a:r>
              <a:rPr lang="en">
                <a:solidFill>
                  <a:schemeClr val="dk1"/>
                </a:solidFill>
              </a:rPr>
              <a:t>Efficient resource allocation and connectivity</a:t>
            </a:r>
            <a:endParaRPr>
              <a:solidFill>
                <a:schemeClr val="dk1"/>
              </a:solidFill>
            </a:endParaRPr>
          </a:p>
          <a:p>
            <a:pPr marL="457200" lvl="0" indent="-342900" algn="l" rtl="0">
              <a:spcBef>
                <a:spcPts val="0"/>
              </a:spcBef>
              <a:spcAft>
                <a:spcPts val="0"/>
              </a:spcAft>
              <a:buClr>
                <a:schemeClr val="dk1"/>
              </a:buClr>
              <a:buSzPts val="1800"/>
              <a:buChar char="●"/>
            </a:pPr>
            <a:r>
              <a:rPr lang="en">
                <a:solidFill>
                  <a:schemeClr val="dk1"/>
                </a:solidFill>
              </a:rPr>
              <a:t>Social Media Marketing</a:t>
            </a:r>
            <a:endParaRPr>
              <a:solidFill>
                <a:schemeClr val="dk1"/>
              </a:solidFill>
            </a:endParaRPr>
          </a:p>
          <a:p>
            <a:pPr marL="914400" lvl="1" indent="-317500" algn="l" rtl="0">
              <a:spcBef>
                <a:spcPts val="0"/>
              </a:spcBef>
              <a:spcAft>
                <a:spcPts val="0"/>
              </a:spcAft>
              <a:buClr>
                <a:schemeClr val="dk1"/>
              </a:buClr>
              <a:buSzPts val="1400"/>
              <a:buChar char="○"/>
            </a:pPr>
            <a:r>
              <a:rPr lang="en">
                <a:solidFill>
                  <a:schemeClr val="dk1"/>
                </a:solidFill>
              </a:rPr>
              <a:t>Understanding community structures through graph analysis</a:t>
            </a:r>
            <a:endParaRPr>
              <a:solidFill>
                <a:schemeClr val="dk1"/>
              </a:solidFill>
            </a:endParaRPr>
          </a:p>
          <a:p>
            <a:pPr marL="914400" lvl="1" indent="-317500" algn="l" rtl="0">
              <a:spcBef>
                <a:spcPts val="0"/>
              </a:spcBef>
              <a:spcAft>
                <a:spcPts val="0"/>
              </a:spcAft>
              <a:buClr>
                <a:schemeClr val="dk1"/>
              </a:buClr>
              <a:buSzPts val="1400"/>
              <a:buChar char="○"/>
            </a:pPr>
            <a:r>
              <a:rPr lang="en">
                <a:solidFill>
                  <a:schemeClr val="dk1"/>
                </a:solidFill>
              </a:rPr>
              <a:t>Targeted marketing strategies and user engagement</a:t>
            </a:r>
            <a:endParaRPr sz="1300"/>
          </a:p>
        </p:txBody>
      </p:sp>
      <p:pic>
        <p:nvPicPr>
          <p:cNvPr id="84" name="Google Shape;84;p16"/>
          <p:cNvPicPr preferRelativeResize="0"/>
          <p:nvPr/>
        </p:nvPicPr>
        <p:blipFill>
          <a:blip r:embed="rId3">
            <a:alphaModFix/>
          </a:blip>
          <a:stretch>
            <a:fillRect/>
          </a:stretch>
        </p:blipFill>
        <p:spPr>
          <a:xfrm>
            <a:off x="6761450" y="317050"/>
            <a:ext cx="2203924" cy="2203924"/>
          </a:xfrm>
          <a:prstGeom prst="rect">
            <a:avLst/>
          </a:prstGeom>
          <a:noFill/>
          <a:ln>
            <a:noFill/>
          </a:ln>
        </p:spPr>
      </p:pic>
      <p:pic>
        <p:nvPicPr>
          <p:cNvPr id="85" name="Google Shape;85;p16"/>
          <p:cNvPicPr preferRelativeResize="0"/>
          <p:nvPr/>
        </p:nvPicPr>
        <p:blipFill>
          <a:blip r:embed="rId4">
            <a:alphaModFix/>
          </a:blip>
          <a:stretch>
            <a:fillRect/>
          </a:stretch>
        </p:blipFill>
        <p:spPr>
          <a:xfrm>
            <a:off x="6253925" y="3273600"/>
            <a:ext cx="2711450" cy="145175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7"/>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Graph Theory Used in Google Maps</a:t>
            </a:r>
            <a:endParaRPr/>
          </a:p>
        </p:txBody>
      </p:sp>
      <p:sp>
        <p:nvSpPr>
          <p:cNvPr id="91" name="Google Shape;91;p17"/>
          <p:cNvSpPr txBox="1">
            <a:spLocks noGrp="1"/>
          </p:cNvSpPr>
          <p:nvPr>
            <p:ph type="body" idx="1"/>
          </p:nvPr>
        </p:nvSpPr>
        <p:spPr>
          <a:xfrm>
            <a:off x="387900" y="1489824"/>
            <a:ext cx="8368200" cy="3078900"/>
          </a:xfrm>
          <a:prstGeom prst="rect">
            <a:avLst/>
          </a:prstGeom>
        </p:spPr>
        <p:txBody>
          <a:bodyPr spcFirstLastPara="1" wrap="square" lIns="91425" tIns="91425" rIns="91425" bIns="91425" anchor="t" anchorCtr="0">
            <a:noAutofit/>
          </a:bodyPr>
          <a:lstStyle/>
          <a:p>
            <a:pPr marL="285750" lvl="0" indent="-299720" algn="l" rtl="0">
              <a:lnSpc>
                <a:spcPct val="95000"/>
              </a:lnSpc>
              <a:spcBef>
                <a:spcPts val="0"/>
              </a:spcBef>
              <a:spcAft>
                <a:spcPts val="0"/>
              </a:spcAft>
              <a:buClr>
                <a:srgbClr val="D1D5DB"/>
              </a:buClr>
              <a:buSzPts val="1120"/>
              <a:buChar char="●"/>
            </a:pPr>
            <a:r>
              <a:rPr lang="en" sz="1120" b="1">
                <a:solidFill>
                  <a:srgbClr val="D1D5DB"/>
                </a:solidFill>
              </a:rPr>
              <a:t>Shortest Path Algorithms: </a:t>
            </a:r>
            <a:endParaRPr sz="1120" b="1">
              <a:solidFill>
                <a:srgbClr val="D1D5DB"/>
              </a:solidFill>
            </a:endParaRPr>
          </a:p>
          <a:p>
            <a:pPr marL="685800" lvl="1" indent="-299720" algn="l" rtl="0">
              <a:lnSpc>
                <a:spcPct val="95000"/>
              </a:lnSpc>
              <a:spcBef>
                <a:spcPts val="0"/>
              </a:spcBef>
              <a:spcAft>
                <a:spcPts val="0"/>
              </a:spcAft>
              <a:buClr>
                <a:srgbClr val="D1D5DB"/>
              </a:buClr>
              <a:buSzPts val="1120"/>
              <a:buChar char="○"/>
            </a:pPr>
            <a:r>
              <a:rPr lang="en" sz="1120">
                <a:solidFill>
                  <a:srgbClr val="D1D5DB"/>
                </a:solidFill>
              </a:rPr>
              <a:t>Google Maps employs graph theory algorithms, such as Dijkstra's or A* (A-star), to determine the shortest path between two locations on the map. </a:t>
            </a:r>
            <a:endParaRPr sz="1120">
              <a:solidFill>
                <a:srgbClr val="D1D5DB"/>
              </a:solidFill>
            </a:endParaRPr>
          </a:p>
          <a:p>
            <a:pPr marL="685800" lvl="1" indent="-299720" algn="l" rtl="0">
              <a:lnSpc>
                <a:spcPct val="95000"/>
              </a:lnSpc>
              <a:spcBef>
                <a:spcPts val="0"/>
              </a:spcBef>
              <a:spcAft>
                <a:spcPts val="0"/>
              </a:spcAft>
              <a:buClr>
                <a:srgbClr val="D1D5DB"/>
              </a:buClr>
              <a:buSzPts val="1120"/>
              <a:buChar char="○"/>
            </a:pPr>
            <a:r>
              <a:rPr lang="en" sz="1120">
                <a:solidFill>
                  <a:srgbClr val="D1D5DB"/>
                </a:solidFill>
              </a:rPr>
              <a:t>These algorithms help find the most efficient route by considering the edges (roads) and vertices (intersections) as nodes in a graph.</a:t>
            </a:r>
            <a:endParaRPr sz="1120">
              <a:solidFill>
                <a:srgbClr val="D1D5DB"/>
              </a:solidFill>
            </a:endParaRPr>
          </a:p>
          <a:p>
            <a:pPr marL="285750" lvl="0" indent="-299720" algn="l" rtl="0">
              <a:lnSpc>
                <a:spcPct val="95000"/>
              </a:lnSpc>
              <a:spcBef>
                <a:spcPts val="0"/>
              </a:spcBef>
              <a:spcAft>
                <a:spcPts val="0"/>
              </a:spcAft>
              <a:buClr>
                <a:srgbClr val="D1D5DB"/>
              </a:buClr>
              <a:buSzPts val="1120"/>
              <a:buChar char="●"/>
            </a:pPr>
            <a:r>
              <a:rPr lang="en" sz="1120" b="1">
                <a:solidFill>
                  <a:srgbClr val="D1D5DB"/>
                </a:solidFill>
              </a:rPr>
              <a:t>Graph Representation: </a:t>
            </a:r>
            <a:endParaRPr sz="1120" b="1">
              <a:solidFill>
                <a:srgbClr val="D1D5DB"/>
              </a:solidFill>
            </a:endParaRPr>
          </a:p>
          <a:p>
            <a:pPr marL="685800" lvl="1" indent="-299720" algn="l" rtl="0">
              <a:lnSpc>
                <a:spcPct val="95000"/>
              </a:lnSpc>
              <a:spcBef>
                <a:spcPts val="0"/>
              </a:spcBef>
              <a:spcAft>
                <a:spcPts val="0"/>
              </a:spcAft>
              <a:buClr>
                <a:srgbClr val="D1D5DB"/>
              </a:buClr>
              <a:buSzPts val="1120"/>
              <a:buChar char="○"/>
            </a:pPr>
            <a:r>
              <a:rPr lang="en" sz="1120">
                <a:solidFill>
                  <a:srgbClr val="D1D5DB"/>
                </a:solidFill>
              </a:rPr>
              <a:t>The road network is modeled as a graph, where intersections are nodes and roads are edges. This representation allows for efficient traversal and computation of routes.</a:t>
            </a:r>
            <a:endParaRPr sz="1120">
              <a:solidFill>
                <a:srgbClr val="D1D5DB"/>
              </a:solidFill>
            </a:endParaRPr>
          </a:p>
          <a:p>
            <a:pPr marL="285750" lvl="0" indent="-299720" algn="l" rtl="0">
              <a:lnSpc>
                <a:spcPct val="95000"/>
              </a:lnSpc>
              <a:spcBef>
                <a:spcPts val="0"/>
              </a:spcBef>
              <a:spcAft>
                <a:spcPts val="0"/>
              </a:spcAft>
              <a:buClr>
                <a:srgbClr val="D1D5DB"/>
              </a:buClr>
              <a:buSzPts val="1120"/>
              <a:buChar char="●"/>
            </a:pPr>
            <a:r>
              <a:rPr lang="en" sz="1120" b="1">
                <a:solidFill>
                  <a:srgbClr val="D1D5DB"/>
                </a:solidFill>
              </a:rPr>
              <a:t>Traffic Analysis: </a:t>
            </a:r>
            <a:endParaRPr sz="1120" b="1">
              <a:solidFill>
                <a:srgbClr val="D1D5DB"/>
              </a:solidFill>
            </a:endParaRPr>
          </a:p>
          <a:p>
            <a:pPr marL="685800" lvl="1" indent="-299720" algn="l" rtl="0">
              <a:lnSpc>
                <a:spcPct val="95000"/>
              </a:lnSpc>
              <a:spcBef>
                <a:spcPts val="0"/>
              </a:spcBef>
              <a:spcAft>
                <a:spcPts val="0"/>
              </a:spcAft>
              <a:buClr>
                <a:srgbClr val="D1D5DB"/>
              </a:buClr>
              <a:buSzPts val="1120"/>
              <a:buChar char="○"/>
            </a:pPr>
            <a:r>
              <a:rPr lang="en" sz="1120">
                <a:solidFill>
                  <a:srgbClr val="D1D5DB"/>
                </a:solidFill>
              </a:rPr>
              <a:t>Real-time traffic data is incorporated into the graph model. Google Maps dynamically updates the graph, adjusting edge weights based on current traffic conditions. </a:t>
            </a:r>
            <a:endParaRPr sz="1120">
              <a:solidFill>
                <a:srgbClr val="D1D5DB"/>
              </a:solidFill>
            </a:endParaRPr>
          </a:p>
          <a:p>
            <a:pPr marL="685800" lvl="1" indent="-299720" algn="l" rtl="0">
              <a:lnSpc>
                <a:spcPct val="95000"/>
              </a:lnSpc>
              <a:spcBef>
                <a:spcPts val="0"/>
              </a:spcBef>
              <a:spcAft>
                <a:spcPts val="0"/>
              </a:spcAft>
              <a:buClr>
                <a:srgbClr val="D1D5DB"/>
              </a:buClr>
              <a:buSzPts val="1120"/>
              <a:buChar char="○"/>
            </a:pPr>
            <a:r>
              <a:rPr lang="en" sz="1120">
                <a:solidFill>
                  <a:srgbClr val="D1D5DB"/>
                </a:solidFill>
              </a:rPr>
              <a:t>Graph-based models enable the system to reroute users in response to traffic incidents, ensuring optimal travel times.</a:t>
            </a:r>
            <a:endParaRPr sz="1120">
              <a:solidFill>
                <a:srgbClr val="D1D5DB"/>
              </a:solidFill>
            </a:endParaRPr>
          </a:p>
          <a:p>
            <a:pPr marL="285750" lvl="0" indent="-299720" algn="l" rtl="0">
              <a:lnSpc>
                <a:spcPct val="95000"/>
              </a:lnSpc>
              <a:spcBef>
                <a:spcPts val="0"/>
              </a:spcBef>
              <a:spcAft>
                <a:spcPts val="0"/>
              </a:spcAft>
              <a:buClr>
                <a:srgbClr val="D1D5DB"/>
              </a:buClr>
              <a:buSzPts val="1120"/>
              <a:buChar char="●"/>
            </a:pPr>
            <a:r>
              <a:rPr lang="en" sz="1120" b="1">
                <a:solidFill>
                  <a:srgbClr val="D1D5DB"/>
                </a:solidFill>
              </a:rPr>
              <a:t>Graph Database: </a:t>
            </a:r>
            <a:endParaRPr sz="1120" b="1">
              <a:solidFill>
                <a:srgbClr val="D1D5DB"/>
              </a:solidFill>
            </a:endParaRPr>
          </a:p>
          <a:p>
            <a:pPr marL="685800" lvl="1" indent="-299720" algn="l" rtl="0">
              <a:lnSpc>
                <a:spcPct val="95000"/>
              </a:lnSpc>
              <a:spcBef>
                <a:spcPts val="0"/>
              </a:spcBef>
              <a:spcAft>
                <a:spcPts val="0"/>
              </a:spcAft>
              <a:buClr>
                <a:srgbClr val="D1D5DB"/>
              </a:buClr>
              <a:buSzPts val="1120"/>
              <a:buChar char="○"/>
            </a:pPr>
            <a:r>
              <a:rPr lang="en" sz="1120">
                <a:solidFill>
                  <a:srgbClr val="D1D5DB"/>
                </a:solidFill>
              </a:rPr>
              <a:t>Google Maps utilizes a graph database to store and retrieve information about road networks. This enables quick access to the graph structure and associated attributes, facilitating fast route calculations.</a:t>
            </a:r>
            <a:endParaRPr sz="1120">
              <a:solidFill>
                <a:srgbClr val="D1D5DB"/>
              </a:solidFill>
            </a:endParaRPr>
          </a:p>
          <a:p>
            <a:pPr marL="285750" lvl="0" indent="-299720" algn="l" rtl="0">
              <a:lnSpc>
                <a:spcPct val="95000"/>
              </a:lnSpc>
              <a:spcBef>
                <a:spcPts val="0"/>
              </a:spcBef>
              <a:spcAft>
                <a:spcPts val="0"/>
              </a:spcAft>
              <a:buClr>
                <a:srgbClr val="D1D5DB"/>
              </a:buClr>
              <a:buSzPts val="1120"/>
              <a:buChar char="●"/>
            </a:pPr>
            <a:r>
              <a:rPr lang="en" sz="1120" b="1">
                <a:solidFill>
                  <a:srgbClr val="D1D5DB"/>
                </a:solidFill>
              </a:rPr>
              <a:t>Spatial Indexing: </a:t>
            </a:r>
            <a:endParaRPr sz="1120" b="1">
              <a:solidFill>
                <a:srgbClr val="D1D5DB"/>
              </a:solidFill>
            </a:endParaRPr>
          </a:p>
          <a:p>
            <a:pPr marL="685800" lvl="1" indent="-299720" algn="l" rtl="0">
              <a:lnSpc>
                <a:spcPct val="95000"/>
              </a:lnSpc>
              <a:spcBef>
                <a:spcPts val="0"/>
              </a:spcBef>
              <a:spcAft>
                <a:spcPts val="0"/>
              </a:spcAft>
              <a:buClr>
                <a:srgbClr val="D1D5DB"/>
              </a:buClr>
              <a:buSzPts val="1120"/>
              <a:buChar char="○"/>
            </a:pPr>
            <a:r>
              <a:rPr lang="en" sz="1120">
                <a:solidFill>
                  <a:srgbClr val="D1D5DB"/>
                </a:solidFill>
              </a:rPr>
              <a:t>Spatial indexing techniques, often rooted in graph theory, are employed to efficiently search and locate geographic points. This helps in quickly identifying the nearest nodes on the graph, contributing to faster map rendering and route planning.</a:t>
            </a:r>
            <a:endParaRPr sz="129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8"/>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Insights and Innovations</a:t>
            </a:r>
            <a:endParaRPr/>
          </a:p>
        </p:txBody>
      </p:sp>
      <p:sp>
        <p:nvSpPr>
          <p:cNvPr id="97" name="Google Shape;97;p18"/>
          <p:cNvSpPr txBox="1">
            <a:spLocks noGrp="1"/>
          </p:cNvSpPr>
          <p:nvPr>
            <p:ph type="body" idx="1"/>
          </p:nvPr>
        </p:nvSpPr>
        <p:spPr>
          <a:xfrm>
            <a:off x="387900" y="1489824"/>
            <a:ext cx="8368200" cy="3078900"/>
          </a:xfrm>
          <a:prstGeom prst="rect">
            <a:avLst/>
          </a:prstGeom>
        </p:spPr>
        <p:txBody>
          <a:bodyPr spcFirstLastPara="1" wrap="square" lIns="91425" tIns="91425" rIns="91425" bIns="91425" anchor="t" anchorCtr="0">
            <a:normAutofit fontScale="85000" lnSpcReduction="20000"/>
          </a:bodyPr>
          <a:lstStyle/>
          <a:p>
            <a:pPr marL="0" lvl="0" indent="0" algn="l" rtl="0">
              <a:spcBef>
                <a:spcPts val="0"/>
              </a:spcBef>
              <a:spcAft>
                <a:spcPts val="0"/>
              </a:spcAft>
              <a:buNone/>
            </a:pPr>
            <a:r>
              <a:rPr lang="en">
                <a:solidFill>
                  <a:srgbClr val="D1D5DB"/>
                </a:solidFill>
              </a:rPr>
              <a:t>Data Visualization and Pattern Recognition:</a:t>
            </a:r>
            <a:endParaRPr>
              <a:solidFill>
                <a:srgbClr val="D1D5DB"/>
              </a:solidFill>
            </a:endParaRPr>
          </a:p>
          <a:p>
            <a:pPr marL="457200" lvl="0" indent="-304165" algn="l" rtl="0">
              <a:spcBef>
                <a:spcPts val="0"/>
              </a:spcBef>
              <a:spcAft>
                <a:spcPts val="0"/>
              </a:spcAft>
              <a:buClr>
                <a:srgbClr val="D1D5DB"/>
              </a:buClr>
              <a:buSzPct val="100000"/>
              <a:buChar char="●"/>
            </a:pPr>
            <a:r>
              <a:rPr lang="en" sz="1400">
                <a:solidFill>
                  <a:srgbClr val="D1D5DB"/>
                </a:solidFill>
              </a:rPr>
              <a:t>Graph theory has empowered data scientists and analysts to visualize complex relationships in large datasets. By representing data as graphs, patterns and connections become more apparent, facilitating the identification of trends and outliers.</a:t>
            </a:r>
            <a:endParaRPr sz="1400"/>
          </a:p>
          <a:p>
            <a:pPr marL="0" lvl="0" indent="0" algn="l" rtl="0">
              <a:spcBef>
                <a:spcPts val="0"/>
              </a:spcBef>
              <a:spcAft>
                <a:spcPts val="0"/>
              </a:spcAft>
              <a:buNone/>
            </a:pPr>
            <a:r>
              <a:rPr lang="en">
                <a:solidFill>
                  <a:srgbClr val="D1D5DB"/>
                </a:solidFill>
              </a:rPr>
              <a:t>Algorithmic Efficiency and Optimization:</a:t>
            </a:r>
            <a:endParaRPr>
              <a:solidFill>
                <a:srgbClr val="D1D5DB"/>
              </a:solidFill>
            </a:endParaRPr>
          </a:p>
          <a:p>
            <a:pPr marL="457200" lvl="0" indent="-304165" algn="l" rtl="0">
              <a:spcBef>
                <a:spcPts val="0"/>
              </a:spcBef>
              <a:spcAft>
                <a:spcPts val="0"/>
              </a:spcAft>
              <a:buClr>
                <a:srgbClr val="D1D5DB"/>
              </a:buClr>
              <a:buSzPct val="100000"/>
              <a:buChar char="●"/>
            </a:pPr>
            <a:r>
              <a:rPr lang="en" sz="1400">
                <a:solidFill>
                  <a:srgbClr val="D1D5DB"/>
                </a:solidFill>
              </a:rPr>
              <a:t>The development and application of graph algorithms have significantly improved computational efficiency in various domains. From route optimization in logistics to task scheduling in project management, graph theory has provided algorithms that help solve complex optimization problems.</a:t>
            </a:r>
            <a:endParaRPr sz="1400">
              <a:solidFill>
                <a:srgbClr val="D1D5DB"/>
              </a:solidFill>
            </a:endParaRPr>
          </a:p>
          <a:p>
            <a:pPr marL="0" lvl="0" indent="0" algn="l" rtl="0">
              <a:spcBef>
                <a:spcPts val="0"/>
              </a:spcBef>
              <a:spcAft>
                <a:spcPts val="0"/>
              </a:spcAft>
              <a:buNone/>
            </a:pPr>
            <a:r>
              <a:rPr lang="en">
                <a:solidFill>
                  <a:srgbClr val="D1D5DB"/>
                </a:solidFill>
              </a:rPr>
              <a:t>Internet and Social Media Analysis:</a:t>
            </a:r>
            <a:endParaRPr>
              <a:solidFill>
                <a:srgbClr val="D1D5DB"/>
              </a:solidFill>
            </a:endParaRPr>
          </a:p>
          <a:p>
            <a:pPr marL="457200" lvl="0" indent="-309562" algn="l" rtl="0">
              <a:spcBef>
                <a:spcPts val="0"/>
              </a:spcBef>
              <a:spcAft>
                <a:spcPts val="0"/>
              </a:spcAft>
              <a:buClr>
                <a:srgbClr val="D1D5DB"/>
              </a:buClr>
              <a:buSzPct val="100000"/>
              <a:buChar char="●"/>
            </a:pPr>
            <a:r>
              <a:rPr lang="en" sz="1500">
                <a:solidFill>
                  <a:srgbClr val="D1D5DB"/>
                </a:solidFill>
              </a:rPr>
              <a:t>Graph theory has been pivotal in understanding and analyzing the structure of the internet and social media networks.</a:t>
            </a:r>
            <a:endParaRPr sz="1500">
              <a:solidFill>
                <a:srgbClr val="D1D5DB"/>
              </a:solidFill>
            </a:endParaRPr>
          </a:p>
          <a:p>
            <a:pPr marL="0" lvl="0" indent="0" algn="l" rtl="0">
              <a:spcBef>
                <a:spcPts val="0"/>
              </a:spcBef>
              <a:spcAft>
                <a:spcPts val="0"/>
              </a:spcAft>
              <a:buNone/>
            </a:pPr>
            <a:r>
              <a:rPr lang="en">
                <a:solidFill>
                  <a:srgbClr val="D1D5DB"/>
                </a:solidFill>
              </a:rPr>
              <a:t>Parallel Computing and Distributed Systems:</a:t>
            </a:r>
            <a:endParaRPr>
              <a:solidFill>
                <a:srgbClr val="D1D5DB"/>
              </a:solidFill>
            </a:endParaRPr>
          </a:p>
          <a:p>
            <a:pPr marL="457200" lvl="0" indent="-309562" algn="l" rtl="0">
              <a:spcBef>
                <a:spcPts val="0"/>
              </a:spcBef>
              <a:spcAft>
                <a:spcPts val="0"/>
              </a:spcAft>
              <a:buClr>
                <a:srgbClr val="D1D5DB"/>
              </a:buClr>
              <a:buSzPct val="100000"/>
              <a:buChar char="●"/>
            </a:pPr>
            <a:r>
              <a:rPr lang="en" sz="1500">
                <a:solidFill>
                  <a:srgbClr val="D1D5DB"/>
                </a:solidFill>
              </a:rPr>
              <a:t>Graph theory has contributed to advancements in parallel computing and distributed systems. Parallel algorithms based on graph theory principles enable efficient processing of large-scale data across multiple computing nodes.</a:t>
            </a:r>
            <a:endParaRPr sz="1500"/>
          </a:p>
        </p:txBody>
      </p:sp>
      <p:pic>
        <p:nvPicPr>
          <p:cNvPr id="98" name="Google Shape;98;p18"/>
          <p:cNvPicPr preferRelativeResize="0"/>
          <p:nvPr/>
        </p:nvPicPr>
        <p:blipFill rotWithShape="1">
          <a:blip r:embed="rId3">
            <a:alphaModFix/>
          </a:blip>
          <a:srcRect b="8700"/>
          <a:stretch/>
        </p:blipFill>
        <p:spPr>
          <a:xfrm>
            <a:off x="6483925" y="75488"/>
            <a:ext cx="2191624" cy="16392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9"/>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Challenges and Limitations</a:t>
            </a:r>
            <a:endParaRPr/>
          </a:p>
        </p:txBody>
      </p:sp>
      <p:sp>
        <p:nvSpPr>
          <p:cNvPr id="104" name="Google Shape;104;p19"/>
          <p:cNvSpPr txBox="1">
            <a:spLocks noGrp="1"/>
          </p:cNvSpPr>
          <p:nvPr>
            <p:ph type="body" idx="1"/>
          </p:nvPr>
        </p:nvSpPr>
        <p:spPr>
          <a:xfrm>
            <a:off x="387900" y="1489824"/>
            <a:ext cx="8368200" cy="3078900"/>
          </a:xfrm>
          <a:prstGeom prst="rect">
            <a:avLst/>
          </a:prstGeom>
        </p:spPr>
        <p:txBody>
          <a:bodyPr spcFirstLastPara="1" wrap="square" lIns="91425" tIns="91425" rIns="91425" bIns="91425" anchor="t" anchorCtr="0">
            <a:normAutofit/>
          </a:bodyPr>
          <a:lstStyle/>
          <a:p>
            <a:pPr marL="457200" lvl="0" indent="-342900" algn="l" rtl="0">
              <a:spcBef>
                <a:spcPts val="1400"/>
              </a:spcBef>
              <a:spcAft>
                <a:spcPts val="0"/>
              </a:spcAft>
              <a:buClr>
                <a:schemeClr val="dk1"/>
              </a:buClr>
              <a:buSzPts val="1800"/>
              <a:buChar char="●"/>
            </a:pPr>
            <a:r>
              <a:rPr lang="en">
                <a:solidFill>
                  <a:schemeClr val="dk1"/>
                </a:solidFill>
              </a:rPr>
              <a:t>Challenges Faced</a:t>
            </a:r>
            <a:endParaRPr>
              <a:solidFill>
                <a:schemeClr val="dk1"/>
              </a:solidFill>
            </a:endParaRPr>
          </a:p>
          <a:p>
            <a:pPr marL="914400" lvl="1" indent="-317500" algn="l" rtl="0">
              <a:spcBef>
                <a:spcPts val="0"/>
              </a:spcBef>
              <a:spcAft>
                <a:spcPts val="0"/>
              </a:spcAft>
              <a:buClr>
                <a:schemeClr val="dk1"/>
              </a:buClr>
              <a:buSzPts val="1400"/>
              <a:buChar char="○"/>
            </a:pPr>
            <a:r>
              <a:rPr lang="en" sz="1400">
                <a:solidFill>
                  <a:schemeClr val="dk1"/>
                </a:solidFill>
              </a:rPr>
              <a:t>Addressing difficulties when applying graph theory in different contexts</a:t>
            </a:r>
            <a:endParaRPr sz="1400">
              <a:solidFill>
                <a:schemeClr val="dk1"/>
              </a:solidFill>
            </a:endParaRPr>
          </a:p>
          <a:p>
            <a:pPr marL="914400" lvl="1" indent="-317500" algn="l" rtl="0">
              <a:spcBef>
                <a:spcPts val="0"/>
              </a:spcBef>
              <a:spcAft>
                <a:spcPts val="0"/>
              </a:spcAft>
              <a:buClr>
                <a:schemeClr val="dk1"/>
              </a:buClr>
              <a:buSzPts val="1400"/>
              <a:buChar char="○"/>
            </a:pPr>
            <a:r>
              <a:rPr lang="en" sz="1400">
                <a:solidFill>
                  <a:schemeClr val="dk1"/>
                </a:solidFill>
              </a:rPr>
              <a:t>Overcoming complexities in certain problem domains</a:t>
            </a:r>
            <a:endParaRPr sz="1400">
              <a:solidFill>
                <a:schemeClr val="dk1"/>
              </a:solidFill>
            </a:endParaRPr>
          </a:p>
          <a:p>
            <a:pPr marL="457200" lvl="0" indent="-342900" algn="l" rtl="0">
              <a:spcBef>
                <a:spcPts val="0"/>
              </a:spcBef>
              <a:spcAft>
                <a:spcPts val="0"/>
              </a:spcAft>
              <a:buClr>
                <a:schemeClr val="dk1"/>
              </a:buClr>
              <a:buSzPts val="1800"/>
              <a:buChar char="●"/>
            </a:pPr>
            <a:r>
              <a:rPr lang="en">
                <a:solidFill>
                  <a:schemeClr val="dk1"/>
                </a:solidFill>
              </a:rPr>
              <a:t>Limitations</a:t>
            </a:r>
            <a:endParaRPr>
              <a:solidFill>
                <a:schemeClr val="dk1"/>
              </a:solidFill>
            </a:endParaRPr>
          </a:p>
          <a:p>
            <a:pPr marL="914400" lvl="1" indent="-317500" algn="l" rtl="0">
              <a:lnSpc>
                <a:spcPct val="115000"/>
              </a:lnSpc>
              <a:spcBef>
                <a:spcPts val="0"/>
              </a:spcBef>
              <a:spcAft>
                <a:spcPts val="0"/>
              </a:spcAft>
              <a:buSzPts val="1400"/>
              <a:buChar char="○"/>
            </a:pPr>
            <a:r>
              <a:rPr lang="en"/>
              <a:t>Graphs inherently represent discrete relationships between nodes and edges, making them less suitable for modeling continuous data being changed over time.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20"/>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Summary</a:t>
            </a:r>
            <a:endParaRPr/>
          </a:p>
        </p:txBody>
      </p:sp>
      <p:sp>
        <p:nvSpPr>
          <p:cNvPr id="110" name="Google Shape;110;p20"/>
          <p:cNvSpPr txBox="1">
            <a:spLocks noGrp="1"/>
          </p:cNvSpPr>
          <p:nvPr>
            <p:ph type="body" idx="1"/>
          </p:nvPr>
        </p:nvSpPr>
        <p:spPr>
          <a:xfrm>
            <a:off x="387900" y="1489824"/>
            <a:ext cx="8368200" cy="3078900"/>
          </a:xfrm>
          <a:prstGeom prst="rect">
            <a:avLst/>
          </a:prstGeom>
        </p:spPr>
        <p:txBody>
          <a:bodyPr spcFirstLastPara="1" wrap="square" lIns="91425" tIns="91425" rIns="91425" bIns="91425" anchor="t" anchorCtr="0">
            <a:normAutofit lnSpcReduction="20000"/>
          </a:bodyPr>
          <a:lstStyle/>
          <a:p>
            <a:pPr marL="457200" lvl="0" indent="-228600" algn="l" rtl="0">
              <a:spcBef>
                <a:spcPts val="0"/>
              </a:spcBef>
              <a:spcAft>
                <a:spcPts val="0"/>
              </a:spcAft>
              <a:buClr>
                <a:srgbClr val="D1D5DB"/>
              </a:buClr>
              <a:buSzPts val="1200"/>
              <a:buNone/>
            </a:pPr>
            <a:r>
              <a:rPr lang="en" sz="1200" b="1">
                <a:solidFill>
                  <a:srgbClr val="D1D5DB"/>
                </a:solidFill>
              </a:rPr>
              <a:t>Structural Representation and Analysis:</a:t>
            </a:r>
            <a:endParaRPr sz="1200" b="1">
              <a:solidFill>
                <a:srgbClr val="D1D5DB"/>
              </a:solidFill>
            </a:endParaRPr>
          </a:p>
          <a:p>
            <a:pPr marL="914400" lvl="1" indent="-304800" algn="l" rtl="0">
              <a:spcBef>
                <a:spcPts val="0"/>
              </a:spcBef>
              <a:spcAft>
                <a:spcPts val="0"/>
              </a:spcAft>
              <a:buClr>
                <a:srgbClr val="D1D5DB"/>
              </a:buClr>
              <a:buSzPts val="1200"/>
              <a:buChar char="●"/>
            </a:pPr>
            <a:r>
              <a:rPr lang="en" sz="1200">
                <a:solidFill>
                  <a:srgbClr val="D1D5DB"/>
                </a:solidFill>
              </a:rPr>
              <a:t>Graph theory provides a powerful framework for representing and analyzing the relationships between interconnected entities. Using nodes and edges, it models diverse systems such as social networks, biological pathways, and transportation networks, allowing researchers to study structural properties and uncover underlying patterns.</a:t>
            </a:r>
            <a:endParaRPr sz="1200">
              <a:solidFill>
                <a:srgbClr val="D1D5DB"/>
              </a:solidFill>
            </a:endParaRPr>
          </a:p>
          <a:p>
            <a:pPr marL="457200" lvl="0" indent="-228600" algn="l" rtl="0">
              <a:spcBef>
                <a:spcPts val="0"/>
              </a:spcBef>
              <a:spcAft>
                <a:spcPts val="0"/>
              </a:spcAft>
              <a:buClr>
                <a:srgbClr val="D1D5DB"/>
              </a:buClr>
              <a:buSzPts val="1200"/>
              <a:buNone/>
            </a:pPr>
            <a:r>
              <a:rPr lang="en" sz="1200" b="1">
                <a:solidFill>
                  <a:srgbClr val="D1D5DB"/>
                </a:solidFill>
              </a:rPr>
              <a:t>Algorithmic Solutions for Optimization:</a:t>
            </a:r>
            <a:endParaRPr sz="1200" b="1">
              <a:solidFill>
                <a:srgbClr val="D1D5DB"/>
              </a:solidFill>
            </a:endParaRPr>
          </a:p>
          <a:p>
            <a:pPr marL="914400" lvl="1" indent="-304800" algn="l" rtl="0">
              <a:spcBef>
                <a:spcPts val="0"/>
              </a:spcBef>
              <a:spcAft>
                <a:spcPts val="0"/>
              </a:spcAft>
              <a:buClr>
                <a:srgbClr val="D1D5DB"/>
              </a:buClr>
              <a:buSzPts val="1200"/>
              <a:buChar char="●"/>
            </a:pPr>
            <a:r>
              <a:rPr lang="en" sz="1200">
                <a:solidFill>
                  <a:srgbClr val="D1D5DB"/>
                </a:solidFill>
              </a:rPr>
              <a:t>Graph theory offers a rich set of algorithms that address optimization challenges in various fields. From finding the shortest path in transportation networks to optimizing resource allocation in project management, these algorithms enhance efficiency and provide solutions to complex problems, contributing to advancements in logistics, scheduling, and resource management.</a:t>
            </a:r>
            <a:endParaRPr sz="1200">
              <a:solidFill>
                <a:srgbClr val="D1D5DB"/>
              </a:solidFill>
            </a:endParaRPr>
          </a:p>
          <a:p>
            <a:pPr marL="457200" lvl="0" indent="-228600" algn="l" rtl="0">
              <a:spcBef>
                <a:spcPts val="0"/>
              </a:spcBef>
              <a:spcAft>
                <a:spcPts val="0"/>
              </a:spcAft>
              <a:buClr>
                <a:srgbClr val="D1D5DB"/>
              </a:buClr>
              <a:buSzPts val="1200"/>
              <a:buNone/>
            </a:pPr>
            <a:r>
              <a:rPr lang="en" sz="1200" b="1">
                <a:solidFill>
                  <a:srgbClr val="D1D5DB"/>
                </a:solidFill>
              </a:rPr>
              <a:t>Cross-Disciplinary Applications:</a:t>
            </a:r>
            <a:endParaRPr sz="1200" b="1">
              <a:solidFill>
                <a:srgbClr val="D1D5DB"/>
              </a:solidFill>
            </a:endParaRPr>
          </a:p>
          <a:p>
            <a:pPr marL="914400" lvl="1" indent="-304800" algn="l" rtl="0">
              <a:spcBef>
                <a:spcPts val="0"/>
              </a:spcBef>
              <a:spcAft>
                <a:spcPts val="0"/>
              </a:spcAft>
              <a:buClr>
                <a:srgbClr val="D1D5DB"/>
              </a:buClr>
              <a:buSzPts val="1200"/>
              <a:buChar char="●"/>
            </a:pPr>
            <a:r>
              <a:rPr lang="en" sz="1200">
                <a:solidFill>
                  <a:srgbClr val="D1D5DB"/>
                </a:solidFill>
              </a:rPr>
              <a:t>The versatility of graph theory transcends traditional boundaries, finding applications in diverse disciplines. Its cross-disciplinary impact underscores its importance as a fundamental tool for understanding and solving complex problems in a wide range of domains.</a:t>
            </a:r>
            <a:endParaRPr sz="1200">
              <a:solidFill>
                <a:srgbClr val="D1D5DB"/>
              </a:solidFill>
            </a:endParaRPr>
          </a:p>
          <a:p>
            <a:pPr marL="0" lvl="0" indent="0" algn="l" rtl="0">
              <a:spcBef>
                <a:spcPts val="0"/>
              </a:spcBef>
              <a:spcAft>
                <a:spcPts val="1200"/>
              </a:spcAft>
              <a:buNone/>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21"/>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References</a:t>
            </a:r>
            <a:endParaRPr/>
          </a:p>
        </p:txBody>
      </p:sp>
      <p:sp>
        <p:nvSpPr>
          <p:cNvPr id="116" name="Google Shape;116;p21"/>
          <p:cNvSpPr txBox="1">
            <a:spLocks noGrp="1"/>
          </p:cNvSpPr>
          <p:nvPr>
            <p:ph type="body" idx="1"/>
          </p:nvPr>
        </p:nvSpPr>
        <p:spPr>
          <a:xfrm>
            <a:off x="387900" y="1489824"/>
            <a:ext cx="8368200" cy="3078900"/>
          </a:xfrm>
          <a:prstGeom prst="rect">
            <a:avLst/>
          </a:prstGeom>
        </p:spPr>
        <p:txBody>
          <a:bodyPr spcFirstLastPara="1" wrap="square" lIns="91425" tIns="91425" rIns="91425" bIns="91425" anchor="t" anchorCtr="0">
            <a:normAutofit/>
          </a:bodyPr>
          <a:lstStyle/>
          <a:p>
            <a:pPr marL="457200" lvl="0" indent="0" algn="l" rtl="0">
              <a:spcBef>
                <a:spcPts val="1500"/>
              </a:spcBef>
              <a:spcAft>
                <a:spcPts val="0"/>
              </a:spcAft>
              <a:buNone/>
            </a:pPr>
            <a:r>
              <a:rPr lang="en" sz="1200">
                <a:solidFill>
                  <a:srgbClr val="D1D5DB"/>
                </a:solidFill>
              </a:rPr>
              <a:t>Bondy, J. A., and U. S. R. Murty. </a:t>
            </a:r>
            <a:r>
              <a:rPr lang="en" sz="1200" b="1">
                <a:solidFill>
                  <a:srgbClr val="D1D5DB"/>
                </a:solidFill>
              </a:rPr>
              <a:t>Graph Theory with Applications.</a:t>
            </a:r>
            <a:r>
              <a:rPr lang="en" sz="1200">
                <a:solidFill>
                  <a:srgbClr val="D1D5DB"/>
                </a:solidFill>
              </a:rPr>
              <a:t> American Mathematical Society, 2008.</a:t>
            </a:r>
            <a:endParaRPr sz="1200">
              <a:solidFill>
                <a:srgbClr val="D1D5DB"/>
              </a:solidFill>
            </a:endParaRPr>
          </a:p>
          <a:p>
            <a:pPr marL="457200" lvl="0" indent="0" algn="l" rtl="0">
              <a:spcBef>
                <a:spcPts val="1500"/>
              </a:spcBef>
              <a:spcAft>
                <a:spcPts val="0"/>
              </a:spcAft>
              <a:buNone/>
            </a:pPr>
            <a:r>
              <a:rPr lang="en" sz="1200">
                <a:solidFill>
                  <a:srgbClr val="D1D5DB"/>
                </a:solidFill>
              </a:rPr>
              <a:t>Diestel, R. </a:t>
            </a:r>
            <a:r>
              <a:rPr lang="en" sz="1200" b="1">
                <a:solidFill>
                  <a:srgbClr val="D1D5DB"/>
                </a:solidFill>
              </a:rPr>
              <a:t>Graph Theory.</a:t>
            </a:r>
            <a:r>
              <a:rPr lang="en" sz="1200">
                <a:solidFill>
                  <a:srgbClr val="D1D5DB"/>
                </a:solidFill>
              </a:rPr>
              <a:t> Springer, 2017.</a:t>
            </a:r>
            <a:endParaRPr sz="1200">
              <a:solidFill>
                <a:srgbClr val="D1D5DB"/>
              </a:solidFill>
            </a:endParaRPr>
          </a:p>
          <a:p>
            <a:pPr marL="457200" lvl="0" indent="0" algn="l" rtl="0">
              <a:spcBef>
                <a:spcPts val="1500"/>
              </a:spcBef>
              <a:spcAft>
                <a:spcPts val="0"/>
              </a:spcAft>
              <a:buNone/>
            </a:pPr>
            <a:r>
              <a:rPr lang="en" sz="1200">
                <a:solidFill>
                  <a:srgbClr val="D1D5DB"/>
                </a:solidFill>
              </a:rPr>
              <a:t>Barabási, Albert-László. </a:t>
            </a:r>
            <a:r>
              <a:rPr lang="en" sz="1200" b="1">
                <a:solidFill>
                  <a:srgbClr val="D1D5DB"/>
                </a:solidFill>
              </a:rPr>
              <a:t>Linked: The New Science of Networks.</a:t>
            </a:r>
            <a:r>
              <a:rPr lang="en" sz="1200">
                <a:solidFill>
                  <a:srgbClr val="D1D5DB"/>
                </a:solidFill>
              </a:rPr>
              <a:t> Perseus Publishing, 2002.</a:t>
            </a:r>
            <a:endParaRPr sz="1200">
              <a:solidFill>
                <a:srgbClr val="D1D5DB"/>
              </a:solidFill>
            </a:endParaRPr>
          </a:p>
          <a:p>
            <a:pPr marL="457200" lvl="0" indent="0" algn="l" rtl="0">
              <a:spcBef>
                <a:spcPts val="1500"/>
              </a:spcBef>
              <a:spcAft>
                <a:spcPts val="0"/>
              </a:spcAft>
              <a:buNone/>
            </a:pPr>
            <a:r>
              <a:rPr lang="en" sz="1200">
                <a:solidFill>
                  <a:srgbClr val="D1D5DB"/>
                </a:solidFill>
              </a:rPr>
              <a:t>Sedgewick, Robert, and Kevin Wayne. </a:t>
            </a:r>
            <a:r>
              <a:rPr lang="en" sz="1200" b="1">
                <a:solidFill>
                  <a:srgbClr val="D1D5DB"/>
                </a:solidFill>
              </a:rPr>
              <a:t>Algorithms.</a:t>
            </a:r>
            <a:r>
              <a:rPr lang="en" sz="1200">
                <a:solidFill>
                  <a:srgbClr val="D1D5DB"/>
                </a:solidFill>
              </a:rPr>
              <a:t> Addison-Wesley, 2011.</a:t>
            </a:r>
            <a:endParaRPr sz="1200">
              <a:solidFill>
                <a:srgbClr val="D1D5DB"/>
              </a:solidFill>
            </a:endParaRPr>
          </a:p>
          <a:p>
            <a:pPr marL="457200" lvl="0" indent="-228600" algn="l" rtl="0">
              <a:spcBef>
                <a:spcPts val="1500"/>
              </a:spcBef>
              <a:spcAft>
                <a:spcPts val="0"/>
              </a:spcAft>
              <a:buClr>
                <a:srgbClr val="D1D5DB"/>
              </a:buClr>
              <a:buSzPts val="1200"/>
              <a:buNone/>
            </a:pPr>
            <a:r>
              <a:rPr lang="en" sz="1200">
                <a:solidFill>
                  <a:srgbClr val="D1D5DB"/>
                </a:solidFill>
              </a:rPr>
              <a:t>Newman, M. E. J. </a:t>
            </a:r>
            <a:r>
              <a:rPr lang="en" sz="1200" b="1">
                <a:solidFill>
                  <a:srgbClr val="D1D5DB"/>
                </a:solidFill>
              </a:rPr>
              <a:t>Networks: An Introduction.</a:t>
            </a:r>
            <a:r>
              <a:rPr lang="en" sz="1200">
                <a:solidFill>
                  <a:srgbClr val="D1D5DB"/>
                </a:solidFill>
              </a:rPr>
              <a:t> Oxford University Press, 2018.</a:t>
            </a:r>
            <a:endParaRPr sz="1200">
              <a:solidFill>
                <a:srgbClr val="D1D5DB"/>
              </a:solidFill>
            </a:endParaRPr>
          </a:p>
          <a:p>
            <a:pPr marL="0" lvl="0" indent="0" algn="l" rtl="0">
              <a:spcBef>
                <a:spcPts val="1500"/>
              </a:spcBef>
              <a:spcAft>
                <a:spcPts val="1200"/>
              </a:spcAft>
              <a:buNone/>
            </a:pPr>
            <a:endParaRPr/>
          </a:p>
        </p:txBody>
      </p:sp>
    </p:spTree>
  </p:cSld>
  <p:clrMapOvr>
    <a:masterClrMapping/>
  </p:clrMapOvr>
</p:sld>
</file>

<file path=ppt/theme/theme1.xml><?xml version="1.0" encoding="utf-8"?>
<a:theme xmlns:a="http://schemas.openxmlformats.org/drawingml/2006/main" name="Marina">
  <a:themeElements>
    <a:clrScheme name="Marina">
      <a:dk1>
        <a:srgbClr val="FFFFFF"/>
      </a:dk1>
      <a:lt1>
        <a:srgbClr val="00517C"/>
      </a:lt1>
      <a:dk2>
        <a:srgbClr val="004065"/>
      </a:dk2>
      <a:lt2>
        <a:srgbClr val="CFD8DC"/>
      </a:lt2>
      <a:accent1>
        <a:srgbClr val="0277BD"/>
      </a:accent1>
      <a:accent2>
        <a:srgbClr val="558B2F"/>
      </a:accent2>
      <a:accent3>
        <a:srgbClr val="009688"/>
      </a:accent3>
      <a:accent4>
        <a:srgbClr val="039BE5"/>
      </a:accent4>
      <a:accent5>
        <a:srgbClr val="8BC34A"/>
      </a:accent5>
      <a:accent6>
        <a:srgbClr val="FFEB38"/>
      </a:accent6>
      <a:hlink>
        <a:srgbClr val="8BC34A"/>
      </a:hlink>
      <a:folHlink>
        <a:srgbClr val="8BC34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846</Words>
  <Application>Microsoft Macintosh PowerPoint</Application>
  <PresentationFormat>On-screen Show (16:9)</PresentationFormat>
  <Paragraphs>64</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Roboto Slab</vt:lpstr>
      <vt:lpstr>Roboto</vt:lpstr>
      <vt:lpstr>Marina</vt:lpstr>
      <vt:lpstr>Graph Theory: Applications and Insights</vt:lpstr>
      <vt:lpstr>What is it?</vt:lpstr>
      <vt:lpstr>Fundamental of Graph Theory</vt:lpstr>
      <vt:lpstr>Applications of Graph Theory</vt:lpstr>
      <vt:lpstr>Graph Theory Used in Google Maps</vt:lpstr>
      <vt:lpstr>Insights and Innovations</vt:lpstr>
      <vt:lpstr>Challenges and Limitations</vt:lpstr>
      <vt:lpstr>Summary</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Jain, Moulik</cp:lastModifiedBy>
  <cp:revision>1</cp:revision>
  <dcterms:modified xsi:type="dcterms:W3CDTF">2026-01-30T04:09:59Z</dcterms:modified>
</cp:coreProperties>
</file>